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4" r:id="rId3"/>
    <p:sldId id="258" r:id="rId4"/>
    <p:sldId id="268" r:id="rId5"/>
    <p:sldId id="267" r:id="rId6"/>
    <p:sldId id="269" r:id="rId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635A16-C07B-B7F4-83F8-81E07FDEBF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BF660649-46DA-88CC-4F88-5532DBA244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1DCAF7C-C32E-5A0B-ACFD-F69151706D02}"/>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48D3AE3A-86F5-236E-6C9C-66E7A5B300A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5D72EA7-B9DB-0A91-4CBE-189702EF2D0F}"/>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3924234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DC2C08-5E7F-0008-2FB2-68391D1A35B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78FA638-4EFF-3913-7576-C40EC0D1337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7F3AD35-1D47-C7AC-5376-7667E5EB21A3}"/>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BFAFBD18-A39E-F85D-399F-6A06AC75A2C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E01D3AC-BF46-946D-7DD5-ABB13D9BA953}"/>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26132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E8518C-53F5-E5B3-115D-81AA5D98A01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FE723CFD-B49A-1496-BF0A-AF531AE5DE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105D3D1-95A9-D8AD-C6F9-6A60F80402AC}"/>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139CB37E-B5DB-6B04-1F33-7A2DDE59EA7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0FC222B-B7EE-5E96-080E-8AC8F2169AC5}"/>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802445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C97DE9-3A52-A85F-EC42-D2C0CEA746A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19C4B65-C81B-323F-D94A-C33830D26EE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B426B9E6-51F4-D97D-A4CC-CE3058D0881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8B2ECC5D-1B79-A376-D530-278CCA0FA350}"/>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6" name="Marcador de pie de página 5">
            <a:extLst>
              <a:ext uri="{FF2B5EF4-FFF2-40B4-BE49-F238E27FC236}">
                <a16:creationId xmlns:a16="http://schemas.microsoft.com/office/drawing/2014/main" id="{9FAB815D-9E68-A117-4153-6C15B8C56C9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C8F3EAA-5E82-3BF6-3C1A-BD02B283CA50}"/>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2519806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416C25-8229-4ADD-9525-9E598B2810A1}"/>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29D0E2B-6670-E959-031B-5F043A2F4A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58CEDCC-3C3C-C1C3-6468-3FB48E00404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489824AE-3D3B-64EA-E5F5-132C17CB7C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54ADF1B-A13A-84CB-02EE-06260C8A57D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5484FBF6-01A3-E85B-A2D8-1CAFD690CA07}"/>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8" name="Marcador de pie de página 7">
            <a:extLst>
              <a:ext uri="{FF2B5EF4-FFF2-40B4-BE49-F238E27FC236}">
                <a16:creationId xmlns:a16="http://schemas.microsoft.com/office/drawing/2014/main" id="{4D0B8F0E-770A-406E-C511-B1BC566C7207}"/>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2F08804-9A41-5EB6-08AC-27CCE66690BC}"/>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1482642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1DFE28-DF7D-F69F-8FBE-3E7340E97A6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1ED84F5F-E004-4C28-0B7C-649196379E76}"/>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4" name="Marcador de pie de página 3">
            <a:extLst>
              <a:ext uri="{FF2B5EF4-FFF2-40B4-BE49-F238E27FC236}">
                <a16:creationId xmlns:a16="http://schemas.microsoft.com/office/drawing/2014/main" id="{38CE734A-54D3-4B32-087B-EB68364EFF70}"/>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983C5E1C-4C63-A1CC-43A0-18294BAFADAC}"/>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127137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762470E-D7C1-C7F0-04DF-BA1368179D02}"/>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3" name="Marcador de pie de página 2">
            <a:extLst>
              <a:ext uri="{FF2B5EF4-FFF2-40B4-BE49-F238E27FC236}">
                <a16:creationId xmlns:a16="http://schemas.microsoft.com/office/drawing/2014/main" id="{E283DBBE-FBF3-92BE-29FF-84852E1E556F}"/>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7C476398-64D9-556A-10DE-CA5253B09262}"/>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3101220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0F3D40-4EC7-A518-5AAC-293B2E63AD3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193DAFC-0D23-9D1B-1BC6-24B76ACAE6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F8AB1391-BBCB-0330-CD04-E0F12B356A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1E7EFB3-E352-7919-7639-D4879907FFA5}"/>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6" name="Marcador de pie de página 5">
            <a:extLst>
              <a:ext uri="{FF2B5EF4-FFF2-40B4-BE49-F238E27FC236}">
                <a16:creationId xmlns:a16="http://schemas.microsoft.com/office/drawing/2014/main" id="{1C1CDD09-0323-3B70-3569-2F94885A5DF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4BF6E8DB-40F2-FC69-9CBF-C721BFEB2163}"/>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3445003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A71C37-5560-E79E-CC82-FEE8AA4D33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A660CC7E-D2FC-578C-B350-43238DBE26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198C0E62-76E8-C374-44AF-0376D2D3D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2BCF642-64DC-2D10-E9CF-0D14A15D4161}"/>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6" name="Marcador de pie de página 5">
            <a:extLst>
              <a:ext uri="{FF2B5EF4-FFF2-40B4-BE49-F238E27FC236}">
                <a16:creationId xmlns:a16="http://schemas.microsoft.com/office/drawing/2014/main" id="{EF90FF74-DD28-2057-ADA0-C9FB613A9E1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087DA0C-DB53-1119-0051-87E55EF5B5BA}"/>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1716603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E4BC9D-3952-93EE-A0CA-B4C20EEBA6CC}"/>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60E8329-5A46-5AAB-02F4-0076DD1D097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FD7A650-4FF1-FAD2-16E0-2F164E57CDC7}"/>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3A09C4C4-2DD2-27E0-C9B9-1EFE0A632E9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4ED4878-BE15-89FE-EDB3-98CF3DA29B78}"/>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4204935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C48B4EA-89DD-4745-0630-4947F832843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E8DA7E3-4801-071B-B234-D9C34616F16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2BAE786-9CFA-740F-5663-6732A61E802C}"/>
              </a:ext>
            </a:extLst>
          </p:cNvPr>
          <p:cNvSpPr>
            <a:spLocks noGrp="1"/>
          </p:cNvSpPr>
          <p:nvPr>
            <p:ph type="dt" sz="half" idx="10"/>
          </p:nvPr>
        </p:nvSpPr>
        <p:spPr/>
        <p:txBody>
          <a:body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1FDEA138-3DEF-24C5-FBA2-3FCF7F580AF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1A504B3-1BD8-F71A-482C-C23A7BB17F2D}"/>
              </a:ext>
            </a:extLst>
          </p:cNvPr>
          <p:cNvSpPr>
            <a:spLocks noGrp="1"/>
          </p:cNvSpPr>
          <p:nvPr>
            <p:ph type="sldNum" sz="quarter" idx="12"/>
          </p:nvPr>
        </p:nvSpPr>
        <p:spPr/>
        <p:txBody>
          <a:bodyPr/>
          <a:lstStyle/>
          <a:p>
            <a:fld id="{76FF08F5-75E6-4458-BE36-89DDBB8663EA}" type="slidenum">
              <a:rPr lang="es-ES" smtClean="0"/>
              <a:t>‹Nº›</a:t>
            </a:fld>
            <a:endParaRPr lang="es-ES"/>
          </a:p>
        </p:txBody>
      </p:sp>
    </p:spTree>
    <p:extLst>
      <p:ext uri="{BB962C8B-B14F-4D97-AF65-F5344CB8AC3E}">
        <p14:creationId xmlns:p14="http://schemas.microsoft.com/office/powerpoint/2010/main" val="848248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60B6465-83DC-F489-6762-C5B5DB606C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4E0D529-C4AC-1997-79F7-6CD48BD5A1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AD2762F-7946-FE89-AD91-C4630FBD54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B43D43-1142-4D3A-930C-AC128EFD48D7}" type="datetimeFigureOut">
              <a:rPr lang="es-ES" smtClean="0"/>
              <a:t>21/05/2026</a:t>
            </a:fld>
            <a:endParaRPr lang="es-ES"/>
          </a:p>
        </p:txBody>
      </p:sp>
      <p:sp>
        <p:nvSpPr>
          <p:cNvPr id="5" name="Marcador de pie de página 4">
            <a:extLst>
              <a:ext uri="{FF2B5EF4-FFF2-40B4-BE49-F238E27FC236}">
                <a16:creationId xmlns:a16="http://schemas.microsoft.com/office/drawing/2014/main" id="{BF47F7F0-58F6-D167-C6CD-D37048E27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6B4BFD49-37E5-4372-8F23-8BBE36B838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FF08F5-75E6-4458-BE36-89DDBB8663EA}" type="slidenum">
              <a:rPr lang="es-ES" smtClean="0"/>
              <a:t>‹Nº›</a:t>
            </a:fld>
            <a:endParaRPr lang="es-ES"/>
          </a:p>
        </p:txBody>
      </p:sp>
    </p:spTree>
    <p:extLst>
      <p:ext uri="{BB962C8B-B14F-4D97-AF65-F5344CB8AC3E}">
        <p14:creationId xmlns:p14="http://schemas.microsoft.com/office/powerpoint/2010/main" val="3045515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63912C7-0E15-213B-DFEC-5C526EC152CD}"/>
              </a:ext>
            </a:extLst>
          </p:cNvPr>
          <p:cNvSpPr>
            <a:spLocks noGrp="1"/>
          </p:cNvSpPr>
          <p:nvPr>
            <p:ph idx="1"/>
          </p:nvPr>
        </p:nvSpPr>
        <p:spPr>
          <a:xfrm>
            <a:off x="564822" y="468165"/>
            <a:ext cx="10785049" cy="1275794"/>
          </a:xfrm>
        </p:spPr>
        <p:txBody>
          <a:bodyPr>
            <a:normAutofit/>
          </a:bodyPr>
          <a:lstStyle/>
          <a:p>
            <a:pPr marL="0" indent="0" algn="ctr">
              <a:buNone/>
            </a:pPr>
            <a:r>
              <a:rPr lang="es-ES" sz="4000" b="1" dirty="0"/>
              <a:t>Análisis Exploratorio del Mercado de Alquiler Turístico en Málaga (2025)</a:t>
            </a:r>
          </a:p>
        </p:txBody>
      </p:sp>
      <p:sp>
        <p:nvSpPr>
          <p:cNvPr id="6" name="CuadroTexto 5">
            <a:extLst>
              <a:ext uri="{FF2B5EF4-FFF2-40B4-BE49-F238E27FC236}">
                <a16:creationId xmlns:a16="http://schemas.microsoft.com/office/drawing/2014/main" id="{060185BA-C508-9494-C4DB-0CAA584C1CA9}"/>
              </a:ext>
            </a:extLst>
          </p:cNvPr>
          <p:cNvSpPr txBox="1"/>
          <p:nvPr/>
        </p:nvSpPr>
        <p:spPr>
          <a:xfrm>
            <a:off x="564822" y="2236585"/>
            <a:ext cx="10596513" cy="3416320"/>
          </a:xfrm>
          <a:prstGeom prst="rect">
            <a:avLst/>
          </a:prstGeom>
          <a:noFill/>
        </p:spPr>
        <p:txBody>
          <a:bodyPr wrap="square">
            <a:spAutoFit/>
          </a:bodyPr>
          <a:lstStyle/>
          <a:p>
            <a:pPr marL="285750" indent="-285750" algn="just">
              <a:buFont typeface="Wingdings" panose="05000000000000000000" pitchFamily="2" charset="2"/>
              <a:buChar char="q"/>
            </a:pPr>
            <a:r>
              <a:rPr lang="es-ES" b="1" dirty="0"/>
              <a:t>Objetivo principal: </a:t>
            </a:r>
          </a:p>
          <a:p>
            <a:pPr algn="just"/>
            <a:endParaRPr lang="es-ES" b="1" dirty="0"/>
          </a:p>
          <a:p>
            <a:pPr algn="just"/>
            <a:r>
              <a:rPr lang="es-ES" dirty="0"/>
              <a:t>Entender los factores que influyen en el precio, la oferta y la demanda de alojamientos turísticos en Málaga.</a:t>
            </a:r>
          </a:p>
          <a:p>
            <a:pPr marL="285750" indent="-285750" algn="just">
              <a:buFont typeface="Wingdings" panose="05000000000000000000" pitchFamily="2" charset="2"/>
              <a:buChar char="q"/>
            </a:pPr>
            <a:endParaRPr lang="es-ES" dirty="0"/>
          </a:p>
          <a:p>
            <a:pPr marL="285750" indent="-285750" algn="just">
              <a:buFont typeface="Wingdings" panose="05000000000000000000" pitchFamily="2" charset="2"/>
              <a:buChar char="q"/>
            </a:pPr>
            <a:endParaRPr lang="es-ES" dirty="0"/>
          </a:p>
          <a:p>
            <a:pPr marL="285750" indent="-285750" algn="just">
              <a:buFont typeface="Wingdings" panose="05000000000000000000" pitchFamily="2" charset="2"/>
              <a:buChar char="q"/>
            </a:pPr>
            <a:r>
              <a:rPr lang="es-ES" b="1" dirty="0"/>
              <a:t>Objetivos específicos:</a:t>
            </a:r>
          </a:p>
          <a:p>
            <a:pPr marL="285750" indent="-285750" algn="just">
              <a:buFont typeface="Wingdings" panose="05000000000000000000" pitchFamily="2" charset="2"/>
              <a:buChar char="q"/>
            </a:pPr>
            <a:endParaRPr lang="es-ES" b="1" dirty="0"/>
          </a:p>
          <a:p>
            <a:pPr marL="742950" lvl="1" indent="-285750" algn="just">
              <a:buFont typeface="Wingdings" panose="05000000000000000000" pitchFamily="2" charset="2"/>
              <a:buChar char="Ø"/>
            </a:pPr>
            <a:r>
              <a:rPr lang="es-ES" dirty="0"/>
              <a:t>Analizar la distribución de precios por barrio y tipo de alojamiento.</a:t>
            </a:r>
          </a:p>
          <a:p>
            <a:pPr marL="742950" lvl="1" indent="-285750" algn="just">
              <a:buFont typeface="Wingdings" panose="05000000000000000000" pitchFamily="2" charset="2"/>
              <a:buChar char="Ø"/>
            </a:pPr>
            <a:r>
              <a:rPr lang="es-ES" dirty="0"/>
              <a:t>Estudiar la relación entre demanda (reseñas), disponibilidad y precio.</a:t>
            </a:r>
          </a:p>
          <a:p>
            <a:pPr marL="742950" lvl="1" indent="-285750" algn="just">
              <a:buFont typeface="Wingdings" panose="05000000000000000000" pitchFamily="2" charset="2"/>
              <a:buChar char="Ø"/>
            </a:pPr>
            <a:r>
              <a:rPr lang="es-ES" dirty="0"/>
              <a:t>Detectar patrones estacionales en la demanda turística.</a:t>
            </a:r>
          </a:p>
          <a:p>
            <a:pPr marL="742950" lvl="1" indent="-285750" algn="just">
              <a:buFont typeface="Wingdings" panose="05000000000000000000" pitchFamily="2" charset="2"/>
              <a:buChar char="Ø"/>
            </a:pPr>
            <a:r>
              <a:rPr lang="es-ES" dirty="0"/>
              <a:t>Formular y contrastar 3 hipótesis basadas en los datos.</a:t>
            </a:r>
          </a:p>
          <a:p>
            <a:pPr algn="just"/>
            <a:endParaRPr lang="es-ES" dirty="0"/>
          </a:p>
        </p:txBody>
      </p:sp>
    </p:spTree>
    <p:extLst>
      <p:ext uri="{BB962C8B-B14F-4D97-AF65-F5344CB8AC3E}">
        <p14:creationId xmlns:p14="http://schemas.microsoft.com/office/powerpoint/2010/main" val="528358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53C2CD1-4DF7-9CA4-3BE1-81FAC310FF5A}"/>
              </a:ext>
            </a:extLst>
          </p:cNvPr>
          <p:cNvSpPr>
            <a:spLocks noGrp="1"/>
          </p:cNvSpPr>
          <p:nvPr>
            <p:ph idx="1"/>
          </p:nvPr>
        </p:nvSpPr>
        <p:spPr>
          <a:xfrm>
            <a:off x="838200" y="590329"/>
            <a:ext cx="10515600" cy="5677342"/>
          </a:xfrm>
        </p:spPr>
        <p:txBody>
          <a:bodyPr/>
          <a:lstStyle/>
          <a:p>
            <a:pPr marL="0" indent="0" algn="just">
              <a:buNone/>
            </a:pPr>
            <a:r>
              <a:rPr lang="es-ES" sz="2000" dirty="0"/>
              <a:t>A partir del análisis general, formulamos tres hipótesis clave para entender las diferencias de precio entre barrios.</a:t>
            </a:r>
          </a:p>
          <a:p>
            <a:pPr marL="0" indent="0" algn="just">
              <a:buNone/>
            </a:pPr>
            <a:endParaRPr lang="es-ES" sz="2000" dirty="0"/>
          </a:p>
          <a:p>
            <a:pPr marL="0" indent="0" algn="just">
              <a:buNone/>
            </a:pPr>
            <a:r>
              <a:rPr lang="es-ES" sz="2000" b="1" dirty="0"/>
              <a:t>Hipótesis 1: </a:t>
            </a:r>
            <a:r>
              <a:rPr lang="es-ES" sz="2000" dirty="0"/>
              <a:t>Los alojamientos ubicados en el Centro tienen precios más altos que los alojamientos del resto de barrios.</a:t>
            </a:r>
          </a:p>
          <a:p>
            <a:pPr marL="0" indent="0" algn="just">
              <a:buNone/>
            </a:pPr>
            <a:endParaRPr lang="es-ES" sz="2000" dirty="0"/>
          </a:p>
          <a:p>
            <a:pPr marL="0" indent="0" algn="just">
              <a:buNone/>
            </a:pPr>
            <a:r>
              <a:rPr lang="es-ES" sz="2000" b="1" dirty="0"/>
              <a:t>Hipótesis 2: </a:t>
            </a:r>
            <a:r>
              <a:rPr lang="es-ES" sz="2000" dirty="0"/>
              <a:t>El precio de los alojamientos con pocas reseñas es más alto que el de los que tienen muchas.</a:t>
            </a:r>
          </a:p>
          <a:p>
            <a:pPr marL="0" indent="0" algn="just">
              <a:buNone/>
            </a:pPr>
            <a:endParaRPr lang="es-ES" sz="2000" dirty="0"/>
          </a:p>
          <a:p>
            <a:pPr marL="0" indent="0" algn="just">
              <a:buNone/>
            </a:pPr>
            <a:r>
              <a:rPr lang="es-ES" sz="2000" b="1" dirty="0"/>
              <a:t>Hipótesis 3: </a:t>
            </a:r>
            <a:r>
              <a:rPr lang="es-ES" sz="2000" dirty="0"/>
              <a:t>La demanda de alojamientos en Málaga (medida por el volumen de reseñas mensuales) presenta un pico de crecimiento superior al 50% durante el tercer </a:t>
            </a:r>
            <a:r>
              <a:rPr lang="es-ES" sz="2000" dirty="0" err="1"/>
              <a:t>trimestrs</a:t>
            </a:r>
            <a:r>
              <a:rPr lang="es-ES" sz="2000" dirty="0"/>
              <a:t> del año (julio, agosto, septiembre), siendo el Distrito Centro el que mantiene una demanda más estable durante el resto del año frente a las otras zonas.</a:t>
            </a:r>
          </a:p>
          <a:p>
            <a:endParaRPr lang="es-ES" dirty="0"/>
          </a:p>
        </p:txBody>
      </p:sp>
    </p:spTree>
    <p:extLst>
      <p:ext uri="{BB962C8B-B14F-4D97-AF65-F5344CB8AC3E}">
        <p14:creationId xmlns:p14="http://schemas.microsoft.com/office/powerpoint/2010/main" val="3543391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936035C-0FE7-E96A-D088-31DAB0139960}"/>
              </a:ext>
            </a:extLst>
          </p:cNvPr>
          <p:cNvSpPr txBox="1">
            <a:spLocks/>
          </p:cNvSpPr>
          <p:nvPr/>
        </p:nvSpPr>
        <p:spPr>
          <a:xfrm>
            <a:off x="838200" y="556179"/>
            <a:ext cx="10515600" cy="126319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2900" b="1" dirty="0">
                <a:latin typeface="+mn-lt"/>
                <a:ea typeface="+mn-ea"/>
                <a:cs typeface="+mn-cs"/>
              </a:rPr>
              <a:t>HIPÓTESIS 1: </a:t>
            </a:r>
            <a:r>
              <a:rPr lang="es-ES" sz="2900" b="1" i="1" dirty="0">
                <a:latin typeface="+mn-lt"/>
                <a:ea typeface="+mn-ea"/>
                <a:cs typeface="+mn-cs"/>
              </a:rPr>
              <a:t>“Los alojamientos ubicados en el Centro tienen precios más altos que los alojamientos del resto de barrios.”</a:t>
            </a:r>
          </a:p>
        </p:txBody>
      </p:sp>
      <p:sp>
        <p:nvSpPr>
          <p:cNvPr id="5" name="CuadroTexto 4">
            <a:extLst>
              <a:ext uri="{FF2B5EF4-FFF2-40B4-BE49-F238E27FC236}">
                <a16:creationId xmlns:a16="http://schemas.microsoft.com/office/drawing/2014/main" id="{7A22F31A-81B8-7E5F-E0A6-C252F3095B74}"/>
              </a:ext>
            </a:extLst>
          </p:cNvPr>
          <p:cNvSpPr txBox="1"/>
          <p:nvPr/>
        </p:nvSpPr>
        <p:spPr>
          <a:xfrm>
            <a:off x="838200" y="2201061"/>
            <a:ext cx="10046615" cy="3631763"/>
          </a:xfrm>
          <a:prstGeom prst="rect">
            <a:avLst/>
          </a:prstGeom>
          <a:noFill/>
        </p:spPr>
        <p:txBody>
          <a:bodyPr wrap="square">
            <a:spAutoFit/>
          </a:bodyPr>
          <a:lstStyle/>
          <a:p>
            <a:pPr algn="just">
              <a:buNone/>
            </a:pPr>
            <a:r>
              <a:rPr lang="es-ES" sz="3200" b="1" dirty="0"/>
              <a:t>PLANTEAMIENTO</a:t>
            </a:r>
          </a:p>
          <a:p>
            <a:pPr algn="just">
              <a:buNone/>
            </a:pPr>
            <a:endParaRPr lang="es-ES" b="1" dirty="0"/>
          </a:p>
          <a:p>
            <a:pPr marL="285750" indent="-285750" algn="just">
              <a:buFont typeface="Wingdings" panose="05000000000000000000" pitchFamily="2" charset="2"/>
              <a:buChar char="q"/>
            </a:pPr>
            <a:r>
              <a:rPr lang="es-ES" b="1" dirty="0">
                <a:effectLst/>
              </a:rPr>
              <a:t>Hipótesis inicial:</a:t>
            </a:r>
            <a:r>
              <a:rPr lang="es-ES" dirty="0">
                <a:effectLst/>
              </a:rPr>
              <a:t> El Centro debería ser el barrio más caro por ser la zona más turística, con mayor actividad económica y mayor demanda.</a:t>
            </a:r>
          </a:p>
          <a:p>
            <a:pPr marL="285750" indent="-285750" algn="just">
              <a:buFont typeface="Wingdings" panose="05000000000000000000" pitchFamily="2" charset="2"/>
              <a:buChar char="q"/>
            </a:pPr>
            <a:endParaRPr lang="es-ES" dirty="0"/>
          </a:p>
          <a:p>
            <a:pPr marL="285750" indent="-285750" algn="just">
              <a:buFont typeface="Wingdings" panose="05000000000000000000" pitchFamily="2" charset="2"/>
              <a:buChar char="q"/>
            </a:pPr>
            <a:r>
              <a:rPr lang="es-ES" b="1" dirty="0">
                <a:effectLst/>
              </a:rPr>
              <a:t>Objetivo del análisis:</a:t>
            </a:r>
            <a:r>
              <a:rPr lang="es-ES" dirty="0">
                <a:effectLst/>
              </a:rPr>
              <a:t> Comprobar si esta hipótesis es cierta y entender qué factores explican las diferencias de precio entre barrios, analizando:</a:t>
            </a:r>
          </a:p>
          <a:p>
            <a:pPr algn="just"/>
            <a:endParaRPr lang="es-ES" dirty="0"/>
          </a:p>
          <a:p>
            <a:pPr marL="742950" lvl="1" indent="-285750" algn="just">
              <a:buFont typeface="Wingdings" panose="05000000000000000000" pitchFamily="2" charset="2"/>
              <a:buChar char="Ø"/>
            </a:pPr>
            <a:r>
              <a:rPr lang="es-ES" dirty="0">
                <a:effectLst/>
              </a:rPr>
              <a:t>La oferta total de alojamientos</a:t>
            </a:r>
            <a:endParaRPr lang="es-ES" dirty="0"/>
          </a:p>
          <a:p>
            <a:pPr marL="742950" lvl="1" indent="-285750" algn="just">
              <a:buFont typeface="Wingdings" panose="05000000000000000000" pitchFamily="2" charset="2"/>
              <a:buChar char="Ø"/>
            </a:pPr>
            <a:r>
              <a:rPr lang="es-ES" dirty="0">
                <a:effectLst/>
              </a:rPr>
              <a:t>La composición por tipo de alojamiento</a:t>
            </a:r>
            <a:endParaRPr lang="es-ES" dirty="0"/>
          </a:p>
          <a:p>
            <a:pPr marL="742950" lvl="1" indent="-285750" algn="just">
              <a:buFont typeface="Wingdings" panose="05000000000000000000" pitchFamily="2" charset="2"/>
              <a:buChar char="Ø"/>
            </a:pPr>
            <a:r>
              <a:rPr lang="es-ES" dirty="0">
                <a:effectLst/>
              </a:rPr>
              <a:t>La relación entre precio, demanda y disponibilidad</a:t>
            </a:r>
            <a:endParaRPr lang="es-ES" dirty="0"/>
          </a:p>
          <a:p>
            <a:pPr marL="742950" lvl="1" indent="-285750" algn="just">
              <a:buFont typeface="Wingdings" panose="05000000000000000000" pitchFamily="2" charset="2"/>
              <a:buChar char="Ø"/>
            </a:pPr>
            <a:r>
              <a:rPr lang="es-ES" dirty="0">
                <a:effectLst/>
              </a:rPr>
              <a:t>El posible efecto de la localización</a:t>
            </a:r>
            <a:endParaRPr lang="es-ES" dirty="0"/>
          </a:p>
        </p:txBody>
      </p:sp>
    </p:spTree>
    <p:extLst>
      <p:ext uri="{BB962C8B-B14F-4D97-AF65-F5344CB8AC3E}">
        <p14:creationId xmlns:p14="http://schemas.microsoft.com/office/powerpoint/2010/main" val="3147707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C20A48C-ADFA-EF12-DD97-46A7A3157649}"/>
              </a:ext>
            </a:extLst>
          </p:cNvPr>
          <p:cNvSpPr txBox="1"/>
          <p:nvPr/>
        </p:nvSpPr>
        <p:spPr>
          <a:xfrm>
            <a:off x="234884" y="268566"/>
            <a:ext cx="11485776" cy="1969770"/>
          </a:xfrm>
          <a:prstGeom prst="rect">
            <a:avLst/>
          </a:prstGeom>
          <a:noFill/>
        </p:spPr>
        <p:txBody>
          <a:bodyPr wrap="square">
            <a:spAutoFit/>
          </a:bodyPr>
          <a:lstStyle/>
          <a:p>
            <a:pPr algn="ctr">
              <a:buNone/>
            </a:pPr>
            <a:r>
              <a:rPr lang="es-ES" sz="3200" b="1" dirty="0"/>
              <a:t>ANÁLISIS</a:t>
            </a:r>
          </a:p>
          <a:p>
            <a:pPr algn="just">
              <a:buNone/>
            </a:pPr>
            <a:endParaRPr lang="es-ES" b="1" dirty="0"/>
          </a:p>
          <a:p>
            <a:pPr algn="just"/>
            <a:r>
              <a:rPr lang="es-ES" dirty="0"/>
              <a:t>Hicimos una primera comparación de los precios por barrios y vimos que había alojamientos con precios muy altos que podían distorsionar el precio medio. Para evitar esa distorsión, en lugar de fijarnos en la media utilizamos la </a:t>
            </a:r>
            <a:r>
              <a:rPr lang="es-ES" b="1" dirty="0"/>
              <a:t>mediana</a:t>
            </a:r>
            <a:r>
              <a:rPr lang="es-ES" dirty="0"/>
              <a:t>, que refleja mucho mejor el “precio típico” de cada barrio.</a:t>
            </a:r>
          </a:p>
          <a:p>
            <a:pPr algn="just"/>
            <a:r>
              <a:rPr lang="es-ES" dirty="0"/>
              <a:t>Esto nos permitió ver con claridad qué zonas son realmente más caras sin que los precios extremos afecten al resultado.</a:t>
            </a:r>
          </a:p>
        </p:txBody>
      </p:sp>
      <p:pic>
        <p:nvPicPr>
          <p:cNvPr id="8" name="Imagen 7">
            <a:extLst>
              <a:ext uri="{FF2B5EF4-FFF2-40B4-BE49-F238E27FC236}">
                <a16:creationId xmlns:a16="http://schemas.microsoft.com/office/drawing/2014/main" id="{2D8EC8FB-535E-1985-DACB-9C1EE1A2292A}"/>
              </a:ext>
            </a:extLst>
          </p:cNvPr>
          <p:cNvPicPr>
            <a:picLocks noChangeAspect="1"/>
          </p:cNvPicPr>
          <p:nvPr/>
        </p:nvPicPr>
        <p:blipFill>
          <a:blip r:embed="rId2"/>
          <a:stretch>
            <a:fillRect/>
          </a:stretch>
        </p:blipFill>
        <p:spPr>
          <a:xfrm>
            <a:off x="339411" y="2479250"/>
            <a:ext cx="5756589" cy="3393907"/>
          </a:xfrm>
          <a:prstGeom prst="rect">
            <a:avLst/>
          </a:prstGeom>
        </p:spPr>
      </p:pic>
      <p:pic>
        <p:nvPicPr>
          <p:cNvPr id="10" name="Imagen 9">
            <a:extLst>
              <a:ext uri="{FF2B5EF4-FFF2-40B4-BE49-F238E27FC236}">
                <a16:creationId xmlns:a16="http://schemas.microsoft.com/office/drawing/2014/main" id="{3CA72B17-1E42-8ADA-BCC9-54FAF58B3F7E}"/>
              </a:ext>
            </a:extLst>
          </p:cNvPr>
          <p:cNvPicPr>
            <a:picLocks noChangeAspect="1"/>
          </p:cNvPicPr>
          <p:nvPr/>
        </p:nvPicPr>
        <p:blipFill>
          <a:blip r:embed="rId3"/>
          <a:stretch>
            <a:fillRect/>
          </a:stretch>
        </p:blipFill>
        <p:spPr>
          <a:xfrm>
            <a:off x="6350414" y="2984113"/>
            <a:ext cx="5257993" cy="2823056"/>
          </a:xfrm>
          <a:prstGeom prst="rect">
            <a:avLst/>
          </a:prstGeom>
        </p:spPr>
      </p:pic>
      <p:cxnSp>
        <p:nvCxnSpPr>
          <p:cNvPr id="12" name="Conector recto de flecha 11">
            <a:extLst>
              <a:ext uri="{FF2B5EF4-FFF2-40B4-BE49-F238E27FC236}">
                <a16:creationId xmlns:a16="http://schemas.microsoft.com/office/drawing/2014/main" id="{B704406E-AAB4-ED4C-D9B1-988BB76C0615}"/>
              </a:ext>
            </a:extLst>
          </p:cNvPr>
          <p:cNvCxnSpPr>
            <a:cxnSpLocks/>
          </p:cNvCxnSpPr>
          <p:nvPr/>
        </p:nvCxnSpPr>
        <p:spPr>
          <a:xfrm flipV="1">
            <a:off x="234884" y="4333901"/>
            <a:ext cx="764357" cy="124178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93ADC4DB-A5CC-DE8D-E7BB-64116070727B}"/>
              </a:ext>
            </a:extLst>
          </p:cNvPr>
          <p:cNvSpPr txBox="1"/>
          <p:nvPr/>
        </p:nvSpPr>
        <p:spPr>
          <a:xfrm>
            <a:off x="84997" y="5667859"/>
            <a:ext cx="1536569" cy="646331"/>
          </a:xfrm>
          <a:prstGeom prst="rect">
            <a:avLst/>
          </a:prstGeom>
          <a:noFill/>
        </p:spPr>
        <p:txBody>
          <a:bodyPr wrap="square">
            <a:spAutoFit/>
          </a:bodyPr>
          <a:lstStyle/>
          <a:p>
            <a:pPr algn="just"/>
            <a:r>
              <a:rPr lang="es-ES" b="1" dirty="0">
                <a:solidFill>
                  <a:srgbClr val="FF0000"/>
                </a:solidFill>
              </a:rPr>
              <a:t>Precios muy elevados</a:t>
            </a:r>
          </a:p>
        </p:txBody>
      </p:sp>
      <p:sp>
        <p:nvSpPr>
          <p:cNvPr id="17" name="Rectángulo 16">
            <a:extLst>
              <a:ext uri="{FF2B5EF4-FFF2-40B4-BE49-F238E27FC236}">
                <a16:creationId xmlns:a16="http://schemas.microsoft.com/office/drawing/2014/main" id="{B63658AE-FFF3-F615-A705-37405F6A53C2}"/>
              </a:ext>
            </a:extLst>
          </p:cNvPr>
          <p:cNvSpPr/>
          <p:nvPr/>
        </p:nvSpPr>
        <p:spPr>
          <a:xfrm>
            <a:off x="9700181" y="3289955"/>
            <a:ext cx="433633" cy="228572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07FFF9F4-EFFB-3A16-4D7C-954095EEB121}"/>
              </a:ext>
            </a:extLst>
          </p:cNvPr>
          <p:cNvSpPr txBox="1"/>
          <p:nvPr/>
        </p:nvSpPr>
        <p:spPr>
          <a:xfrm>
            <a:off x="8001407" y="5873157"/>
            <a:ext cx="3662692" cy="646331"/>
          </a:xfrm>
          <a:prstGeom prst="rect">
            <a:avLst/>
          </a:prstGeom>
          <a:noFill/>
        </p:spPr>
        <p:txBody>
          <a:bodyPr wrap="square">
            <a:spAutoFit/>
          </a:bodyPr>
          <a:lstStyle/>
          <a:p>
            <a:pPr algn="just"/>
            <a:r>
              <a:rPr lang="es-ES" b="1" dirty="0">
                <a:solidFill>
                  <a:srgbClr val="FF0000"/>
                </a:solidFill>
              </a:rPr>
              <a:t>NO SE CONFIRMA LA HIPÓTEIS, el CENTRO se sitúa en la 4 posición.</a:t>
            </a:r>
          </a:p>
        </p:txBody>
      </p:sp>
    </p:spTree>
    <p:extLst>
      <p:ext uri="{BB962C8B-B14F-4D97-AF65-F5344CB8AC3E}">
        <p14:creationId xmlns:p14="http://schemas.microsoft.com/office/powerpoint/2010/main" val="1931060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2">
            <a:extLst>
              <a:ext uri="{FF2B5EF4-FFF2-40B4-BE49-F238E27FC236}">
                <a16:creationId xmlns:a16="http://schemas.microsoft.com/office/drawing/2014/main" id="{84656C70-C30E-D9F3-6992-A54F019588FB}"/>
              </a:ext>
            </a:extLst>
          </p:cNvPr>
          <p:cNvSpPr>
            <a:spLocks noGrp="1"/>
          </p:cNvSpPr>
          <p:nvPr>
            <p:ph idx="1"/>
          </p:nvPr>
        </p:nvSpPr>
        <p:spPr>
          <a:xfrm>
            <a:off x="338578" y="553006"/>
            <a:ext cx="10785049" cy="653625"/>
          </a:xfrm>
        </p:spPr>
        <p:txBody>
          <a:bodyPr>
            <a:normAutofit/>
          </a:bodyPr>
          <a:lstStyle/>
          <a:p>
            <a:pPr marL="0" indent="0" algn="ctr">
              <a:buNone/>
            </a:pPr>
            <a:r>
              <a:rPr lang="es-ES" sz="4000" b="1" dirty="0"/>
              <a:t>RESULTADOS OBTENIDOS</a:t>
            </a:r>
          </a:p>
          <a:p>
            <a:pPr marL="0" indent="0" algn="ctr">
              <a:buNone/>
            </a:pPr>
            <a:endParaRPr lang="es-ES" sz="4000" b="1" dirty="0"/>
          </a:p>
        </p:txBody>
      </p:sp>
      <p:pic>
        <p:nvPicPr>
          <p:cNvPr id="3" name="Imagen 2">
            <a:extLst>
              <a:ext uri="{FF2B5EF4-FFF2-40B4-BE49-F238E27FC236}">
                <a16:creationId xmlns:a16="http://schemas.microsoft.com/office/drawing/2014/main" id="{0E5F03C7-C224-EF94-8634-6F075058BA5F}"/>
              </a:ext>
            </a:extLst>
          </p:cNvPr>
          <p:cNvPicPr>
            <a:picLocks noChangeAspect="1"/>
          </p:cNvPicPr>
          <p:nvPr/>
        </p:nvPicPr>
        <p:blipFill>
          <a:blip r:embed="rId2"/>
          <a:stretch>
            <a:fillRect/>
          </a:stretch>
        </p:blipFill>
        <p:spPr>
          <a:xfrm>
            <a:off x="523721" y="1366885"/>
            <a:ext cx="5406247" cy="3327663"/>
          </a:xfrm>
          <a:prstGeom prst="rect">
            <a:avLst/>
          </a:prstGeom>
        </p:spPr>
      </p:pic>
      <p:cxnSp>
        <p:nvCxnSpPr>
          <p:cNvPr id="7" name="Conector recto de flecha 6">
            <a:extLst>
              <a:ext uri="{FF2B5EF4-FFF2-40B4-BE49-F238E27FC236}">
                <a16:creationId xmlns:a16="http://schemas.microsoft.com/office/drawing/2014/main" id="{5701FA0E-6E7C-29EB-FE48-5DED8A478442}"/>
              </a:ext>
            </a:extLst>
          </p:cNvPr>
          <p:cNvCxnSpPr>
            <a:cxnSpLocks/>
          </p:cNvCxnSpPr>
          <p:nvPr/>
        </p:nvCxnSpPr>
        <p:spPr>
          <a:xfrm flipV="1">
            <a:off x="1027522" y="4694548"/>
            <a:ext cx="593888" cy="3535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46BEB2B4-BDD1-48AC-2F2A-7EB7E83E29E2}"/>
              </a:ext>
            </a:extLst>
          </p:cNvPr>
          <p:cNvSpPr txBox="1"/>
          <p:nvPr/>
        </p:nvSpPr>
        <p:spPr>
          <a:xfrm>
            <a:off x="179264" y="5104665"/>
            <a:ext cx="5269428" cy="1477328"/>
          </a:xfrm>
          <a:prstGeom prst="rect">
            <a:avLst/>
          </a:prstGeom>
          <a:noFill/>
        </p:spPr>
        <p:txBody>
          <a:bodyPr wrap="square">
            <a:spAutoFit/>
          </a:bodyPr>
          <a:lstStyle/>
          <a:p>
            <a:r>
              <a:rPr lang="es-ES" b="1" dirty="0">
                <a:solidFill>
                  <a:srgbClr val="FF0000"/>
                </a:solidFill>
              </a:rPr>
              <a:t>Los pisos completos son los más caros</a:t>
            </a:r>
          </a:p>
          <a:p>
            <a:r>
              <a:rPr lang="es-ES" b="1" dirty="0">
                <a:solidFill>
                  <a:srgbClr val="FF0000"/>
                </a:solidFill>
              </a:rPr>
              <a:t>Los alojamientos que se alquilan enteros son, con diferencia, los que tienen los precios más altos en todos los barrios. Las habitaciones privadas, compartidas o de hotel son mucho más económicas.</a:t>
            </a:r>
          </a:p>
        </p:txBody>
      </p:sp>
      <p:pic>
        <p:nvPicPr>
          <p:cNvPr id="15" name="Imagen 14">
            <a:extLst>
              <a:ext uri="{FF2B5EF4-FFF2-40B4-BE49-F238E27FC236}">
                <a16:creationId xmlns:a16="http://schemas.microsoft.com/office/drawing/2014/main" id="{8027EBB5-E652-38D8-CCC4-7BE640F051CF}"/>
              </a:ext>
            </a:extLst>
          </p:cNvPr>
          <p:cNvPicPr>
            <a:picLocks noChangeAspect="1"/>
          </p:cNvPicPr>
          <p:nvPr/>
        </p:nvPicPr>
        <p:blipFill>
          <a:blip r:embed="rId3"/>
          <a:stretch>
            <a:fillRect/>
          </a:stretch>
        </p:blipFill>
        <p:spPr>
          <a:xfrm>
            <a:off x="6262034" y="1297950"/>
            <a:ext cx="5539086" cy="3750103"/>
          </a:xfrm>
          <a:prstGeom prst="rect">
            <a:avLst/>
          </a:prstGeom>
        </p:spPr>
      </p:pic>
      <p:cxnSp>
        <p:nvCxnSpPr>
          <p:cNvPr id="16" name="Conector recto de flecha 15">
            <a:extLst>
              <a:ext uri="{FF2B5EF4-FFF2-40B4-BE49-F238E27FC236}">
                <a16:creationId xmlns:a16="http://schemas.microsoft.com/office/drawing/2014/main" id="{4CF83787-8526-7DFA-8076-64CDB46779D7}"/>
              </a:ext>
            </a:extLst>
          </p:cNvPr>
          <p:cNvCxnSpPr>
            <a:cxnSpLocks/>
          </p:cNvCxnSpPr>
          <p:nvPr/>
        </p:nvCxnSpPr>
        <p:spPr>
          <a:xfrm flipV="1">
            <a:off x="8418136" y="2422689"/>
            <a:ext cx="2799761" cy="19230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FA43F061-F3C2-D923-C17E-79F802583AA2}"/>
              </a:ext>
            </a:extLst>
          </p:cNvPr>
          <p:cNvSpPr txBox="1"/>
          <p:nvPr/>
        </p:nvSpPr>
        <p:spPr>
          <a:xfrm>
            <a:off x="7145671" y="5052817"/>
            <a:ext cx="4477578" cy="1754326"/>
          </a:xfrm>
          <a:prstGeom prst="rect">
            <a:avLst/>
          </a:prstGeom>
          <a:noFill/>
        </p:spPr>
        <p:txBody>
          <a:bodyPr wrap="square">
            <a:spAutoFit/>
          </a:bodyPr>
          <a:lstStyle/>
          <a:p>
            <a:r>
              <a:rPr lang="es-ES" b="1" dirty="0">
                <a:solidFill>
                  <a:srgbClr val="FF0000"/>
                </a:solidFill>
              </a:rPr>
              <a:t>El tamaño importa</a:t>
            </a:r>
          </a:p>
          <a:p>
            <a:r>
              <a:rPr lang="es-ES" b="1" dirty="0">
                <a:solidFill>
                  <a:srgbClr val="FF0000"/>
                </a:solidFill>
              </a:rPr>
              <a:t>Cuantas más personas caben en un alojamiento, más sube el precio. </a:t>
            </a:r>
          </a:p>
          <a:p>
            <a:r>
              <a:rPr lang="es-ES" b="1" dirty="0">
                <a:solidFill>
                  <a:srgbClr val="FF0000"/>
                </a:solidFill>
              </a:rPr>
              <a:t>Los alojamientos grandes son siempre más caros que los pequeños.</a:t>
            </a:r>
          </a:p>
          <a:p>
            <a:pPr algn="just"/>
            <a:endParaRPr lang="es-ES" b="1" dirty="0">
              <a:solidFill>
                <a:srgbClr val="FF0000"/>
              </a:solidFill>
            </a:endParaRPr>
          </a:p>
        </p:txBody>
      </p:sp>
    </p:spTree>
    <p:extLst>
      <p:ext uri="{BB962C8B-B14F-4D97-AF65-F5344CB8AC3E}">
        <p14:creationId xmlns:p14="http://schemas.microsoft.com/office/powerpoint/2010/main" val="3191711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86A38-A8F2-EA3B-6BDF-837F553C385D}"/>
            </a:ext>
          </a:extLst>
        </p:cNvPr>
        <p:cNvGrpSpPr/>
        <p:nvPr/>
      </p:nvGrpSpPr>
      <p:grpSpPr>
        <a:xfrm>
          <a:off x="0" y="0"/>
          <a:ext cx="0" cy="0"/>
          <a:chOff x="0" y="0"/>
          <a:chExt cx="0" cy="0"/>
        </a:xfrm>
      </p:grpSpPr>
      <p:sp>
        <p:nvSpPr>
          <p:cNvPr id="6" name="Marcador de contenido 2">
            <a:extLst>
              <a:ext uri="{FF2B5EF4-FFF2-40B4-BE49-F238E27FC236}">
                <a16:creationId xmlns:a16="http://schemas.microsoft.com/office/drawing/2014/main" id="{EBBA7EC8-18DB-813A-667D-BDBCB44FBCED}"/>
              </a:ext>
            </a:extLst>
          </p:cNvPr>
          <p:cNvSpPr>
            <a:spLocks noGrp="1"/>
          </p:cNvSpPr>
          <p:nvPr>
            <p:ph idx="1"/>
          </p:nvPr>
        </p:nvSpPr>
        <p:spPr>
          <a:xfrm>
            <a:off x="338578" y="553006"/>
            <a:ext cx="10785049" cy="653625"/>
          </a:xfrm>
        </p:spPr>
        <p:txBody>
          <a:bodyPr>
            <a:normAutofit/>
          </a:bodyPr>
          <a:lstStyle/>
          <a:p>
            <a:pPr marL="0" indent="0" algn="ctr">
              <a:buNone/>
            </a:pPr>
            <a:r>
              <a:rPr lang="es-ES" sz="4000" b="1" dirty="0"/>
              <a:t>RESULTADOS OBTENIDOS</a:t>
            </a:r>
          </a:p>
          <a:p>
            <a:pPr marL="0" indent="0" algn="ctr">
              <a:buNone/>
            </a:pPr>
            <a:endParaRPr lang="es-ES" sz="4000" b="1" dirty="0"/>
          </a:p>
        </p:txBody>
      </p:sp>
      <p:cxnSp>
        <p:nvCxnSpPr>
          <p:cNvPr id="7" name="Conector recto de flecha 6">
            <a:extLst>
              <a:ext uri="{FF2B5EF4-FFF2-40B4-BE49-F238E27FC236}">
                <a16:creationId xmlns:a16="http://schemas.microsoft.com/office/drawing/2014/main" id="{B7269D03-01DC-A976-A301-A52DA2FCBCB3}"/>
              </a:ext>
            </a:extLst>
          </p:cNvPr>
          <p:cNvCxnSpPr>
            <a:cxnSpLocks/>
          </p:cNvCxnSpPr>
          <p:nvPr/>
        </p:nvCxnSpPr>
        <p:spPr>
          <a:xfrm flipV="1">
            <a:off x="1300899" y="4501122"/>
            <a:ext cx="207390" cy="54221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EA344279-F9B0-4B70-96B4-CED96AEB9E59}"/>
              </a:ext>
            </a:extLst>
          </p:cNvPr>
          <p:cNvSpPr txBox="1"/>
          <p:nvPr/>
        </p:nvSpPr>
        <p:spPr>
          <a:xfrm>
            <a:off x="179264" y="5151473"/>
            <a:ext cx="5269428" cy="1477328"/>
          </a:xfrm>
          <a:prstGeom prst="rect">
            <a:avLst/>
          </a:prstGeom>
          <a:noFill/>
        </p:spPr>
        <p:txBody>
          <a:bodyPr wrap="square">
            <a:spAutoFit/>
          </a:bodyPr>
          <a:lstStyle/>
          <a:p>
            <a:r>
              <a:rPr lang="es-ES" b="1" dirty="0">
                <a:solidFill>
                  <a:srgbClr val="FF0000"/>
                </a:solidFill>
              </a:rPr>
              <a:t>Los alojamientos que se reservan para pocos días son los que tienen el precio por noche más alto. Esto es normal porque las estancias cortas implican más trabajo para el anfitrión (limpiezas, cambios, gestión), y por eso el precio sube.</a:t>
            </a:r>
          </a:p>
        </p:txBody>
      </p:sp>
      <p:pic>
        <p:nvPicPr>
          <p:cNvPr id="4" name="Imagen 3">
            <a:extLst>
              <a:ext uri="{FF2B5EF4-FFF2-40B4-BE49-F238E27FC236}">
                <a16:creationId xmlns:a16="http://schemas.microsoft.com/office/drawing/2014/main" id="{6F60FC67-D94F-08E0-F950-B442DE8C6E43}"/>
              </a:ext>
            </a:extLst>
          </p:cNvPr>
          <p:cNvPicPr>
            <a:picLocks noChangeAspect="1"/>
          </p:cNvPicPr>
          <p:nvPr/>
        </p:nvPicPr>
        <p:blipFill>
          <a:blip r:embed="rId2"/>
          <a:stretch>
            <a:fillRect/>
          </a:stretch>
        </p:blipFill>
        <p:spPr>
          <a:xfrm>
            <a:off x="529823" y="1310050"/>
            <a:ext cx="4918869" cy="3281078"/>
          </a:xfrm>
          <a:prstGeom prst="rect">
            <a:avLst/>
          </a:prstGeom>
        </p:spPr>
      </p:pic>
      <p:pic>
        <p:nvPicPr>
          <p:cNvPr id="8" name="Imagen 7">
            <a:extLst>
              <a:ext uri="{FF2B5EF4-FFF2-40B4-BE49-F238E27FC236}">
                <a16:creationId xmlns:a16="http://schemas.microsoft.com/office/drawing/2014/main" id="{E956D10B-F0FC-080E-F5D0-DB39C2C2A565}"/>
              </a:ext>
            </a:extLst>
          </p:cNvPr>
          <p:cNvPicPr>
            <a:picLocks noChangeAspect="1"/>
          </p:cNvPicPr>
          <p:nvPr/>
        </p:nvPicPr>
        <p:blipFill>
          <a:blip r:embed="rId3"/>
          <a:stretch>
            <a:fillRect/>
          </a:stretch>
        </p:blipFill>
        <p:spPr>
          <a:xfrm>
            <a:off x="7024485" y="1206631"/>
            <a:ext cx="3313079" cy="2222369"/>
          </a:xfrm>
          <a:prstGeom prst="rect">
            <a:avLst/>
          </a:prstGeom>
        </p:spPr>
      </p:pic>
      <p:pic>
        <p:nvPicPr>
          <p:cNvPr id="11" name="Imagen 10">
            <a:extLst>
              <a:ext uri="{FF2B5EF4-FFF2-40B4-BE49-F238E27FC236}">
                <a16:creationId xmlns:a16="http://schemas.microsoft.com/office/drawing/2014/main" id="{49284FE2-089D-9896-B891-A8E6498F912F}"/>
              </a:ext>
            </a:extLst>
          </p:cNvPr>
          <p:cNvPicPr>
            <a:picLocks noChangeAspect="1"/>
          </p:cNvPicPr>
          <p:nvPr/>
        </p:nvPicPr>
        <p:blipFill>
          <a:blip r:embed="rId4"/>
          <a:stretch>
            <a:fillRect/>
          </a:stretch>
        </p:blipFill>
        <p:spPr>
          <a:xfrm>
            <a:off x="7099733" y="3429000"/>
            <a:ext cx="3162582" cy="2144245"/>
          </a:xfrm>
          <a:prstGeom prst="rect">
            <a:avLst/>
          </a:prstGeom>
        </p:spPr>
      </p:pic>
      <p:sp>
        <p:nvSpPr>
          <p:cNvPr id="12" name="CuadroTexto 11">
            <a:extLst>
              <a:ext uri="{FF2B5EF4-FFF2-40B4-BE49-F238E27FC236}">
                <a16:creationId xmlns:a16="http://schemas.microsoft.com/office/drawing/2014/main" id="{AA2C65BD-1A3E-4438-C456-FF5D15C26187}"/>
              </a:ext>
            </a:extLst>
          </p:cNvPr>
          <p:cNvSpPr txBox="1"/>
          <p:nvPr/>
        </p:nvSpPr>
        <p:spPr>
          <a:xfrm>
            <a:off x="6589174" y="5935662"/>
            <a:ext cx="5269428" cy="369332"/>
          </a:xfrm>
          <a:prstGeom prst="rect">
            <a:avLst/>
          </a:prstGeom>
          <a:noFill/>
        </p:spPr>
        <p:txBody>
          <a:bodyPr wrap="square">
            <a:spAutoFit/>
          </a:bodyPr>
          <a:lstStyle/>
          <a:p>
            <a:r>
              <a:rPr lang="es-ES" b="1" dirty="0">
                <a:solidFill>
                  <a:srgbClr val="FF0000"/>
                </a:solidFill>
              </a:rPr>
              <a:t>Las reseñas y la disponibilidad NO explican el precio</a:t>
            </a:r>
            <a:r>
              <a:rPr lang="es-ES" dirty="0"/>
              <a:t>.</a:t>
            </a:r>
            <a:endParaRPr lang="es-ES" b="1" dirty="0">
              <a:solidFill>
                <a:srgbClr val="FF0000"/>
              </a:solidFill>
            </a:endParaRPr>
          </a:p>
        </p:txBody>
      </p:sp>
    </p:spTree>
    <p:extLst>
      <p:ext uri="{BB962C8B-B14F-4D97-AF65-F5344CB8AC3E}">
        <p14:creationId xmlns:p14="http://schemas.microsoft.com/office/powerpoint/2010/main" val="288821594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526</Words>
  <Application>Microsoft Office PowerPoint</Application>
  <PresentationFormat>Panorámica</PresentationFormat>
  <Paragraphs>45</Paragraphs>
  <Slides>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Calibri</vt:lpstr>
      <vt:lpstr>Calibri Light</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Marta Harana Herrera</dc:creator>
  <cp:lastModifiedBy>Marta Harana Herrera</cp:lastModifiedBy>
  <cp:revision>4</cp:revision>
  <dcterms:created xsi:type="dcterms:W3CDTF">2026-05-18T11:27:02Z</dcterms:created>
  <dcterms:modified xsi:type="dcterms:W3CDTF">2026-05-21T12:30:42Z</dcterms:modified>
</cp:coreProperties>
</file>