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4" r:id="rId3"/>
    <p:sldId id="258" r:id="rId4"/>
    <p:sldId id="265" r:id="rId5"/>
    <p:sldId id="266" r:id="rId6"/>
    <p:sldId id="268" r:id="rId7"/>
    <p:sldId id="261" r:id="rId8"/>
    <p:sldId id="267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635A16-C07B-B7F4-83F8-81E07FDEBF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F660649-46DA-88CC-4F88-5532DBA244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1DCAF7C-C32E-5A0B-ACFD-F6915170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8D3AE3A-86F5-236E-6C9C-66E7A5B30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5D72EA7-B9DB-0A91-4CBE-189702EF2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24234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DC2C08-5E7F-0008-2FB2-68391D1A3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8FA638-4EFF-3913-7576-C40EC0D133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7F3AD35-1D47-C7AC-5376-7667E5EB2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AFBD18-A39E-F85D-399F-6A06AC75A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01D3AC-BF46-946D-7DD5-ABB13D9BA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32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E8518C-53F5-E5B3-115D-81AA5D98A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E723CFD-B49A-1496-BF0A-AF531AE5DE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105D3D1-95A9-D8AD-C6F9-6A60F804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9CB37E-B5DB-6B04-1F33-7A2DDE59E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FC222B-B7EE-5E96-080E-8AC8F2169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2445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4C97DE9-3A52-A85F-EC42-D2C0CEA74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9C4B65-C81B-323F-D94A-C33830D26E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426B9E6-51F4-D97D-A4CC-CE3058D088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B2ECC5D-1B79-A376-D530-278CCA0FA3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FAB815D-9E68-A117-4153-6C15B8C56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C8F3EAA-5E82-3BF6-3C1A-BD02B283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9806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416C25-8229-4ADD-9525-9E598B281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9D0E2B-6670-E959-031B-5F043A2F4A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58CEDCC-3C3C-C1C3-6468-3FB48E0040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89824AE-3D3B-64EA-E5F5-132C17CB7C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4ADF1B-A13A-84CB-02EE-06260C8A57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484FBF6-01A3-E85B-A2D8-1CAFD690C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D0B8F0E-770A-406E-C511-B1BC566C7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2F08804-9A41-5EB6-08AC-27CCE6669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26427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1DFE28-DF7D-F69F-8FBE-3E7340E9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ED84F5F-E004-4C28-0B7C-649196379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8CE734A-54D3-4B32-087B-EB68364EF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83C5E1C-4C63-A1CC-43A0-18294BAFA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7137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762470E-D7C1-C7F0-04DF-BA1368179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283DBBE-FBF3-92BE-29FF-84852E1E5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C476398-64D9-556A-10DE-CA5253B0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1220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0F3D40-4EC7-A518-5AAC-293B2E63A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193DAFC-0D23-9D1B-1BC6-24B76ACAE6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8AB1391-BBCB-0330-CD04-E0F12B356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1E7EFB3-E352-7919-7639-D4879907F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C1CDD09-0323-3B70-3569-2F94885A5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BF6E8DB-40F2-FC69-9CBF-C721BFEB2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500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A71C37-5560-E79E-CC82-FEE8AA4D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660CC7E-D2FC-578C-B350-43238DBE26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98C0E62-76E8-C374-44AF-0376D2D3D2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2BCF642-64DC-2D10-E9CF-0D14A15D4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90FF74-DD28-2057-ADA0-C9FB613A9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87DA0C-DB53-1119-0051-87E55EF5B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6603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E4BC9D-3952-93EE-A0CA-B4C20EEBA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0E8329-5A46-5AAB-02F4-0076DD1D09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FD7A650-4FF1-FAD2-16E0-2F164E57CD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09C4C4-2DD2-27E0-C9B9-1EFE0A632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4ED4878-BE15-89FE-EDB3-98CF3DA2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4935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C48B4EA-89DD-4745-0630-4947F83284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E8DA7E3-4801-071B-B234-D9C34616F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2BAE786-9CFA-740F-5663-6732A61E8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FDEA138-3DEF-24C5-FBA2-3FCF7F58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A504B3-1BD8-F71A-482C-C23A7BB17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8248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60B6465-83DC-F489-6762-C5B5DB606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4E0D529-C4AC-1997-79F7-6CD48BD5A1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AD2762F-7946-FE89-AD91-C4630FBD54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B43D43-1142-4D3A-930C-AC128EFD48D7}" type="datetimeFigureOut">
              <a:rPr lang="es-ES" smtClean="0"/>
              <a:t>18/05/2026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47F7F0-58F6-D167-C6CD-D37048E27F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4BFD49-37E5-4372-8F23-8BBE36B83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F08F5-75E6-4458-BE36-89DDBB8663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5515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3912C7-0E15-213B-DFEC-5C526EC15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822" y="468165"/>
            <a:ext cx="10785049" cy="127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4000" b="1" dirty="0"/>
              <a:t>Análisis Exploratorio del Mercado de Alquiler Turístico en Málaga (2025)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B12CEDA-E902-2EAA-9E58-FF4DF0D5A2C4}"/>
              </a:ext>
            </a:extLst>
          </p:cNvPr>
          <p:cNvSpPr txBox="1"/>
          <p:nvPr/>
        </p:nvSpPr>
        <p:spPr>
          <a:xfrm>
            <a:off x="564823" y="3737976"/>
            <a:ext cx="999319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b="1" dirty="0"/>
              <a:t>Objetivos específicos: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Analizar la distribución de precios por barrio y tipo de alojamiento.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Estudiar la relación entre demanda (reseñas), disponibilidad y precio.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Detectar patrones estacionales en la demanda turística.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Formular y contrastar 3 hipótesis basadas en los datos.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60185BA-C508-9494-C4DB-0CAA584C1CA9}"/>
              </a:ext>
            </a:extLst>
          </p:cNvPr>
          <p:cNvSpPr txBox="1"/>
          <p:nvPr/>
        </p:nvSpPr>
        <p:spPr>
          <a:xfrm>
            <a:off x="564822" y="2236585"/>
            <a:ext cx="105965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b="1" dirty="0"/>
              <a:t>Objetivo principal: </a:t>
            </a:r>
          </a:p>
          <a:p>
            <a:pPr algn="just"/>
            <a:r>
              <a:rPr lang="es-ES" dirty="0"/>
              <a:t>Entender los factores que influyen en el precio, la oferta y la demanda de alojamientos turísticos en Málaga.</a:t>
            </a:r>
          </a:p>
        </p:txBody>
      </p:sp>
    </p:spTree>
    <p:extLst>
      <p:ext uri="{BB962C8B-B14F-4D97-AF65-F5344CB8AC3E}">
        <p14:creationId xmlns:p14="http://schemas.microsoft.com/office/powerpoint/2010/main" val="528358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53C2CD1-4DF7-9CA4-3BE1-81FAC310FF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90329"/>
            <a:ext cx="10515600" cy="5677342"/>
          </a:xfrm>
        </p:spPr>
        <p:txBody>
          <a:bodyPr/>
          <a:lstStyle/>
          <a:p>
            <a:pPr marL="0" indent="0" algn="just">
              <a:buNone/>
            </a:pPr>
            <a:r>
              <a:rPr lang="es-ES" sz="2000" dirty="0"/>
              <a:t>A partir del análisis general, formulamos tres hipótesis clave para entender las diferencias de precio entre barrios.</a:t>
            </a:r>
          </a:p>
          <a:p>
            <a:pPr marL="0" indent="0" algn="just">
              <a:buNone/>
            </a:pPr>
            <a:endParaRPr lang="es-ES" sz="2000" dirty="0"/>
          </a:p>
          <a:p>
            <a:pPr marL="0" indent="0" algn="just">
              <a:buNone/>
            </a:pPr>
            <a:r>
              <a:rPr lang="es-ES" sz="2000" b="1" dirty="0"/>
              <a:t>Hipótesis 1: </a:t>
            </a:r>
            <a:r>
              <a:rPr lang="es-ES" sz="2000" dirty="0"/>
              <a:t>Los alojamientos ubicados en el Centro tienen precios más altos que los alojamientos del resto de barrios.</a:t>
            </a:r>
          </a:p>
          <a:p>
            <a:pPr marL="0" indent="0" algn="just">
              <a:buNone/>
            </a:pPr>
            <a:endParaRPr lang="es-ES" sz="2000" dirty="0"/>
          </a:p>
          <a:p>
            <a:pPr marL="0" indent="0" algn="just">
              <a:buNone/>
            </a:pPr>
            <a:r>
              <a:rPr lang="es-ES" sz="2000" b="1" dirty="0"/>
              <a:t>Hipótesis 2: </a:t>
            </a:r>
            <a:r>
              <a:rPr lang="es-ES" sz="2000" dirty="0"/>
              <a:t>El precio de los alojamientos con pocas reseñas es más alto que el de los que tienen muchas.</a:t>
            </a:r>
          </a:p>
          <a:p>
            <a:pPr marL="0" indent="0" algn="just">
              <a:buNone/>
            </a:pPr>
            <a:endParaRPr lang="es-ES" sz="2000" dirty="0"/>
          </a:p>
          <a:p>
            <a:pPr marL="0" indent="0" algn="just">
              <a:buNone/>
            </a:pPr>
            <a:r>
              <a:rPr lang="es-ES" sz="2000" b="1" dirty="0"/>
              <a:t>Hipótesis 3: </a:t>
            </a:r>
            <a:r>
              <a:rPr lang="es-ES" sz="2000" dirty="0"/>
              <a:t>La demanda de alojamientos en Málaga (medida por el volumen de reseñas mensuales) presenta un pico de crecimiento superior al 50% durante el tercer </a:t>
            </a:r>
            <a:r>
              <a:rPr lang="es-ES" sz="2000" dirty="0" err="1"/>
              <a:t>trimestrs</a:t>
            </a:r>
            <a:r>
              <a:rPr lang="es-ES" sz="2000" dirty="0"/>
              <a:t> del año (julio, agosto, septiembre), siendo el Distrito Centro el que mantiene una demanda más estable durante el resto del año frente a las otras zonas.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43391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936035C-0FE7-E96A-D088-31DAB0139960}"/>
              </a:ext>
            </a:extLst>
          </p:cNvPr>
          <p:cNvSpPr txBox="1">
            <a:spLocks/>
          </p:cNvSpPr>
          <p:nvPr/>
        </p:nvSpPr>
        <p:spPr>
          <a:xfrm>
            <a:off x="838200" y="556179"/>
            <a:ext cx="10515600" cy="12631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es-ES" sz="2000" b="1" dirty="0">
                <a:latin typeface="+mn-lt"/>
                <a:ea typeface="+mn-ea"/>
                <a:cs typeface="+mn-cs"/>
              </a:rPr>
              <a:t>HIPÓTESIS 1: “</a:t>
            </a:r>
            <a:r>
              <a:rPr lang="es-ES" sz="2000" dirty="0">
                <a:latin typeface="+mn-lt"/>
                <a:ea typeface="+mn-ea"/>
                <a:cs typeface="+mn-cs"/>
              </a:rPr>
              <a:t>Los alojamientos ubicados en el Centro tienen precios más altos que los alojamientos del resto de barrios.”</a:t>
            </a:r>
          </a:p>
          <a:p>
            <a:pPr algn="just"/>
            <a:endParaRPr lang="es-ES" sz="2000" dirty="0">
              <a:latin typeface="+mn-lt"/>
              <a:ea typeface="+mn-ea"/>
              <a:cs typeface="+mn-cs"/>
            </a:endParaRPr>
          </a:p>
          <a:p>
            <a:pPr algn="just"/>
            <a:r>
              <a:rPr lang="es-ES" sz="2000" dirty="0">
                <a:latin typeface="+mn-lt"/>
                <a:ea typeface="+mn-ea"/>
                <a:cs typeface="+mn-cs"/>
              </a:rPr>
              <a:t>Análisis de precios, oferta y localización en Airbnb Málaga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A22F31A-81B8-7E5F-E0A6-C252F3095B74}"/>
              </a:ext>
            </a:extLst>
          </p:cNvPr>
          <p:cNvSpPr txBox="1"/>
          <p:nvPr/>
        </p:nvSpPr>
        <p:spPr>
          <a:xfrm>
            <a:off x="838200" y="2201061"/>
            <a:ext cx="1004661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b="1" dirty="0"/>
              <a:t>PLANTEAMIENTO</a:t>
            </a:r>
          </a:p>
          <a:p>
            <a:pPr algn="just">
              <a:buNone/>
            </a:pPr>
            <a:endParaRPr lang="es-ES" b="1" dirty="0"/>
          </a:p>
          <a:p>
            <a:pPr algn="just">
              <a:buNone/>
            </a:pPr>
            <a:r>
              <a:rPr lang="es-ES" b="1" dirty="0">
                <a:effectLst/>
              </a:rPr>
              <a:t>Hipótesis inicial:</a:t>
            </a:r>
            <a:r>
              <a:rPr lang="es-ES" dirty="0">
                <a:effectLst/>
              </a:rPr>
              <a:t> El Centro debería ser el barrio más caro por ser la zona más turística, con mayor actividad económica y mayor demanda.</a:t>
            </a:r>
          </a:p>
          <a:p>
            <a:pPr algn="just">
              <a:buNone/>
            </a:pPr>
            <a:endParaRPr lang="es-ES" dirty="0"/>
          </a:p>
          <a:p>
            <a:pPr algn="just">
              <a:buNone/>
            </a:pPr>
            <a:r>
              <a:rPr lang="es-ES" b="1" dirty="0">
                <a:effectLst/>
              </a:rPr>
              <a:t>Objetivo del análisis:</a:t>
            </a:r>
            <a:r>
              <a:rPr lang="es-ES" dirty="0">
                <a:effectLst/>
              </a:rPr>
              <a:t> Comprobar si esta hipótesis es cierta y entender qué factores explican las diferencias de precio entre barrios, analizando: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La oferta total de alojamientos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La composición por tipo de alojamiento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La relación entre precio, demanda y disponibilidad</a:t>
            </a:r>
            <a:endParaRPr lang="es-E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s-ES" dirty="0">
                <a:effectLst/>
              </a:rPr>
              <a:t>El posible efecto de la localización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47707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5717D57-470E-016A-D561-32E2F33F0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024" y="304269"/>
            <a:ext cx="6551523" cy="3202501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E9F1DA4-0DCD-8C17-4104-30F5C99F2C46}"/>
              </a:ext>
            </a:extLst>
          </p:cNvPr>
          <p:cNvSpPr txBox="1"/>
          <p:nvPr/>
        </p:nvSpPr>
        <p:spPr>
          <a:xfrm>
            <a:off x="7588577" y="1203632"/>
            <a:ext cx="364817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dirty="0"/>
              <a:t>Los gráficos muestran que, aunque el </a:t>
            </a:r>
            <a:r>
              <a:rPr lang="es-ES" b="1" dirty="0"/>
              <a:t>Centro</a:t>
            </a:r>
            <a:r>
              <a:rPr lang="es-ES" dirty="0"/>
              <a:t> no es el barrio con el precio medio más alto, sí es el que concentra </a:t>
            </a:r>
            <a:r>
              <a:rPr lang="es-ES" b="1" dirty="0"/>
              <a:t>mayor número de alojamientos</a:t>
            </a:r>
            <a:r>
              <a:rPr lang="es-ES" dirty="0"/>
              <a:t>. Para evitar sesgos derivados de barrios con muy poca oferta, establecemos un </a:t>
            </a:r>
            <a:r>
              <a:rPr lang="es-ES" b="1" dirty="0"/>
              <a:t>umbral mínimo de 200 alojamientos</a:t>
            </a:r>
            <a:r>
              <a:rPr lang="es-ES" dirty="0"/>
              <a:t> (línea roja). Solo los barrios que superan este volumen se incluirán en el análisis comparativo para asegurar resultados más representativos.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21FED89A-755D-86F6-4DE6-107501319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9" y="3388936"/>
            <a:ext cx="6810262" cy="332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62998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3B9CC8B-EB19-DECB-5191-381FE372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364" y="1259262"/>
            <a:ext cx="6483533" cy="4651393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8FCA029-6C94-0B7D-EFB8-520F368F200D}"/>
              </a:ext>
            </a:extLst>
          </p:cNvPr>
          <p:cNvSpPr txBox="1"/>
          <p:nvPr/>
        </p:nvSpPr>
        <p:spPr>
          <a:xfrm>
            <a:off x="6909846" y="1259262"/>
            <a:ext cx="444002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La matriz de correlaciones muestra la relación entre el precio y distintas variables del alojamiento. Se observa que la </a:t>
            </a:r>
            <a:r>
              <a:rPr lang="es-ES" b="1" dirty="0"/>
              <a:t>capacidad del alojamiento (</a:t>
            </a:r>
            <a:r>
              <a:rPr lang="es-ES" b="1" dirty="0" err="1"/>
              <a:t>accommodates</a:t>
            </a:r>
            <a:r>
              <a:rPr lang="es-ES" b="1" dirty="0"/>
              <a:t>)</a:t>
            </a:r>
            <a:r>
              <a:rPr lang="es-ES" dirty="0"/>
              <a:t> es el factor que presenta la correlación más alta con el precio (</a:t>
            </a:r>
            <a:r>
              <a:rPr lang="es-ES" b="1" dirty="0"/>
              <a:t>0.59</a:t>
            </a:r>
            <a:r>
              <a:rPr lang="es-ES" dirty="0"/>
              <a:t>), lo que indica que, a mayor número de huéspedes admitidos, mayor tiende a ser el precio. </a:t>
            </a:r>
          </a:p>
          <a:p>
            <a:pPr algn="just"/>
            <a:r>
              <a:rPr lang="es-ES" dirty="0"/>
              <a:t>El resto de variables:</a:t>
            </a:r>
          </a:p>
          <a:p>
            <a:pPr marL="285750" indent="-285750" algn="just">
              <a:buFontTx/>
              <a:buChar char="-"/>
            </a:pPr>
            <a:r>
              <a:rPr lang="es-ES" dirty="0"/>
              <a:t>valoración del alojamiento</a:t>
            </a:r>
          </a:p>
          <a:p>
            <a:pPr marL="285750" indent="-285750" algn="just">
              <a:buFontTx/>
              <a:buChar char="-"/>
            </a:pPr>
            <a:r>
              <a:rPr lang="es-ES" dirty="0"/>
              <a:t>disponibilidad anual</a:t>
            </a:r>
          </a:p>
          <a:p>
            <a:pPr algn="just"/>
            <a:r>
              <a:rPr lang="es-ES" dirty="0"/>
              <a:t>presentan correlaciones muy bajas, por lo que su influencia en el precio es mínima.</a:t>
            </a:r>
          </a:p>
        </p:txBody>
      </p:sp>
    </p:spTree>
    <p:extLst>
      <p:ext uri="{BB962C8B-B14F-4D97-AF65-F5344CB8AC3E}">
        <p14:creationId xmlns:p14="http://schemas.microsoft.com/office/powerpoint/2010/main" val="15655008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C5DFD119-157F-8BEE-CA16-7AC1259CF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02" y="377072"/>
            <a:ext cx="5628261" cy="276881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11032EEA-B7D7-9BA1-ADF0-66C5BDFB0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638" y="3266878"/>
            <a:ext cx="5900787" cy="2943340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22959188-5AAA-1268-4D83-86A2EF5E759B}"/>
              </a:ext>
            </a:extLst>
          </p:cNvPr>
          <p:cNvSpPr txBox="1"/>
          <p:nvPr/>
        </p:nvSpPr>
        <p:spPr>
          <a:xfrm>
            <a:off x="6815577" y="1221555"/>
            <a:ext cx="444002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Los gráficos muestran que el </a:t>
            </a:r>
            <a:r>
              <a:rPr lang="es-ES" b="1" dirty="0"/>
              <a:t>precio medio por barrio</a:t>
            </a:r>
            <a:r>
              <a:rPr lang="es-ES" dirty="0"/>
              <a:t> es más alto en el Este, mientras que el </a:t>
            </a:r>
            <a:r>
              <a:rPr lang="es-ES" b="1" dirty="0"/>
              <a:t>Centro</a:t>
            </a:r>
            <a:r>
              <a:rPr lang="es-ES" dirty="0"/>
              <a:t>, aunque no es el más caro, sí concentra la mayor actividad y densidad de alojamientos. </a:t>
            </a:r>
          </a:p>
          <a:p>
            <a:pPr algn="just"/>
            <a:endParaRPr lang="es-ES" dirty="0"/>
          </a:p>
          <a:p>
            <a:pPr algn="just"/>
            <a:r>
              <a:rPr lang="es-ES" dirty="0"/>
              <a:t>Al analizar el </a:t>
            </a:r>
            <a:r>
              <a:rPr lang="es-ES" b="1" dirty="0"/>
              <a:t>precio medio por persona</a:t>
            </a:r>
            <a:r>
              <a:rPr lang="es-ES" dirty="0"/>
              <a:t>, el Centro supera ligeramente al Este, lo que sugiere que los alojamientos céntricos suelen estar optimizados para grupos más pequeños. </a:t>
            </a:r>
          </a:p>
        </p:txBody>
      </p:sp>
    </p:spTree>
    <p:extLst>
      <p:ext uri="{BB962C8B-B14F-4D97-AF65-F5344CB8AC3E}">
        <p14:creationId xmlns:p14="http://schemas.microsoft.com/office/powerpoint/2010/main" val="22037228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3EAC0-7CA2-5385-FEB8-0CF0E0C57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C863B-8BFC-CE96-7833-252E9FDD4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262" y="1385741"/>
            <a:ext cx="10515600" cy="2275150"/>
          </a:xfrm>
        </p:spPr>
        <p:txBody>
          <a:bodyPr>
            <a:normAutofit/>
          </a:bodyPr>
          <a:lstStyle/>
          <a:p>
            <a:br>
              <a:rPr lang="es-ES" sz="3600" dirty="0"/>
            </a:br>
            <a:br>
              <a:rPr lang="es-ES" dirty="0"/>
            </a:br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E802C4-71FE-EDD2-1BD8-4FC4341F5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262" y="868351"/>
            <a:ext cx="6974564" cy="414025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1A57D694-AE9B-FCD6-0FEE-46229FDB4B8F}"/>
              </a:ext>
            </a:extLst>
          </p:cNvPr>
          <p:cNvSpPr txBox="1"/>
          <p:nvPr/>
        </p:nvSpPr>
        <p:spPr>
          <a:xfrm>
            <a:off x="7911446" y="761290"/>
            <a:ext cx="3772292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s-ES" dirty="0"/>
              <a:t>Los datos muestran que, para el mismo tipo de alojamiento (</a:t>
            </a:r>
            <a:r>
              <a:rPr lang="es-ES" b="1" dirty="0" err="1"/>
              <a:t>Entire</a:t>
            </a:r>
            <a:r>
              <a:rPr lang="es-ES" b="1" dirty="0"/>
              <a:t> home/</a:t>
            </a:r>
            <a:r>
              <a:rPr lang="es-ES" b="1" dirty="0" err="1"/>
              <a:t>apt</a:t>
            </a:r>
            <a:r>
              <a:rPr lang="es-ES" dirty="0"/>
              <a:t>), el </a:t>
            </a:r>
            <a:r>
              <a:rPr lang="es-ES" b="1" dirty="0"/>
              <a:t>Este</a:t>
            </a:r>
            <a:r>
              <a:rPr lang="es-ES" dirty="0"/>
              <a:t> presenta un precio medio superior al del </a:t>
            </a:r>
            <a:r>
              <a:rPr lang="es-ES" b="1" dirty="0"/>
              <a:t>Centro</a:t>
            </a:r>
            <a:r>
              <a:rPr lang="es-ES" dirty="0"/>
              <a:t>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Centro: </a:t>
            </a:r>
            <a:r>
              <a:rPr lang="es-ES" b="1" dirty="0"/>
              <a:t>123 €</a:t>
            </a:r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Este: </a:t>
            </a:r>
            <a:r>
              <a:rPr lang="es-ES" b="1" dirty="0"/>
              <a:t>143 €</a:t>
            </a:r>
          </a:p>
          <a:p>
            <a:pPr algn="just"/>
            <a:endParaRPr lang="es-ES" dirty="0"/>
          </a:p>
          <a:p>
            <a:pPr algn="just"/>
            <a:r>
              <a:rPr lang="es-ES" dirty="0"/>
              <a:t>Esta diferencia refleja un claro </a:t>
            </a:r>
            <a:r>
              <a:rPr lang="es-ES" b="1" dirty="0"/>
              <a:t>premium de localización</a:t>
            </a:r>
            <a:r>
              <a:rPr lang="es-ES" dirty="0"/>
              <a:t>: la zona Este combina menor oferta, mayor atractivo de playa y alojamientos potencialmente más amplios o de mayor calidad, lo que eleva el precio medio respecto al Centro.</a:t>
            </a:r>
          </a:p>
        </p:txBody>
      </p:sp>
    </p:spTree>
    <p:extLst>
      <p:ext uri="{BB962C8B-B14F-4D97-AF65-F5344CB8AC3E}">
        <p14:creationId xmlns:p14="http://schemas.microsoft.com/office/powerpoint/2010/main" val="742651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E9861F12-A260-DB13-0D9E-45653071B033}"/>
              </a:ext>
            </a:extLst>
          </p:cNvPr>
          <p:cNvSpPr txBox="1"/>
          <p:nvPr/>
        </p:nvSpPr>
        <p:spPr>
          <a:xfrm>
            <a:off x="1247087" y="1652869"/>
            <a:ext cx="9697825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s-ES" dirty="0">
                <a:effectLst/>
              </a:rPr>
              <a:t>El análisis muestra que el </a:t>
            </a:r>
            <a:r>
              <a:rPr lang="es-ES" b="1" dirty="0">
                <a:effectLst/>
              </a:rPr>
              <a:t>Centro</a:t>
            </a:r>
            <a:r>
              <a:rPr lang="es-ES" dirty="0">
                <a:effectLst/>
              </a:rPr>
              <a:t>, pese a ser la zona con mayor volumen de alojamientos y actividad turística, </a:t>
            </a:r>
            <a:r>
              <a:rPr lang="es-ES" b="1" dirty="0">
                <a:effectLst/>
              </a:rPr>
              <a:t>no es el barrio más caro</a:t>
            </a:r>
            <a:r>
              <a:rPr lang="es-ES" dirty="0">
                <a:effectLst/>
              </a:rPr>
              <a:t>. El </a:t>
            </a:r>
            <a:r>
              <a:rPr lang="es-ES" b="1" dirty="0">
                <a:effectLst/>
              </a:rPr>
              <a:t>Este</a:t>
            </a:r>
            <a:r>
              <a:rPr lang="es-ES" dirty="0">
                <a:effectLst/>
              </a:rPr>
              <a:t> presenta precios medios superiores, incluso cuando se compara el mismo tipo de alojamiento, lo que evidencia un </a:t>
            </a:r>
            <a:r>
              <a:rPr lang="es-ES" b="1" dirty="0">
                <a:effectLst/>
              </a:rPr>
              <a:t>premium de localización</a:t>
            </a:r>
            <a:r>
              <a:rPr lang="es-ES" dirty="0">
                <a:effectLst/>
              </a:rPr>
              <a:t> asociado a su entorno de playa, menor competencia y características de los alojamientos.</a:t>
            </a:r>
            <a:endParaRPr lang="es-ES" dirty="0"/>
          </a:p>
          <a:p>
            <a:pPr algn="just">
              <a:buNone/>
            </a:pPr>
            <a:endParaRPr lang="es-ES" dirty="0">
              <a:effectLst/>
            </a:endParaRPr>
          </a:p>
          <a:p>
            <a:pPr algn="just">
              <a:buNone/>
            </a:pPr>
            <a:r>
              <a:rPr lang="es-ES" dirty="0">
                <a:effectLst/>
              </a:rPr>
              <a:t>Además, la capacidad del alojamiento es el factor que </a:t>
            </a:r>
            <a:r>
              <a:rPr lang="es-ES" b="1" dirty="0">
                <a:effectLst/>
              </a:rPr>
              <a:t>más influye en el precio</a:t>
            </a:r>
            <a:r>
              <a:rPr lang="es-ES" dirty="0">
                <a:effectLst/>
              </a:rPr>
              <a:t>, mientras que la valoración y la disponibilidad tienen un impacto mínimo. Al aplicar un umbral mínimo de </a:t>
            </a:r>
            <a:r>
              <a:rPr lang="es-ES" b="1" dirty="0">
                <a:effectLst/>
              </a:rPr>
              <a:t>200 alojamientos por barrio</a:t>
            </a:r>
            <a:r>
              <a:rPr lang="es-ES" dirty="0">
                <a:effectLst/>
              </a:rPr>
              <a:t>, garantizamos un análisis representativo y evitamos sesgos derivados de muestras pequeñas.</a:t>
            </a:r>
          </a:p>
          <a:p>
            <a:pPr algn="just">
              <a:buNone/>
            </a:pPr>
            <a:endParaRPr lang="es-ES" dirty="0"/>
          </a:p>
          <a:p>
            <a:pPr algn="just">
              <a:buNone/>
            </a:pPr>
            <a:r>
              <a:rPr lang="es-ES" dirty="0">
                <a:effectLst/>
              </a:rPr>
              <a:t>En conjunto, los resultados confirman que </a:t>
            </a:r>
            <a:r>
              <a:rPr lang="es-ES" b="1" dirty="0">
                <a:effectLst/>
              </a:rPr>
              <a:t>la localización y el tamaño del alojamiento</a:t>
            </a:r>
            <a:r>
              <a:rPr lang="es-ES" dirty="0">
                <a:effectLst/>
              </a:rPr>
              <a:t> son los principales determinantes del precio en Airbnb Málaga, y que el comportamiento del mercado no siempre coincide con la intuición inicial de que el Centro sería la zona más cara</a:t>
            </a:r>
            <a:endParaRPr lang="es-ES" dirty="0"/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84656C70-C30E-D9F3-6992-A54F019588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8578" y="553006"/>
            <a:ext cx="10785049" cy="6536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4000" b="1" dirty="0"/>
              <a:t>CONCLUSIÓN HIPÓTESIS 1</a:t>
            </a:r>
          </a:p>
        </p:txBody>
      </p:sp>
    </p:spTree>
    <p:extLst>
      <p:ext uri="{BB962C8B-B14F-4D97-AF65-F5344CB8AC3E}">
        <p14:creationId xmlns:p14="http://schemas.microsoft.com/office/powerpoint/2010/main" val="31917112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</TotalTime>
  <Words>781</Words>
  <Application>Microsoft Office PowerPoint</Application>
  <PresentationFormat>Panorámica</PresentationFormat>
  <Paragraphs>49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  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Harana Herrera</dc:creator>
  <cp:lastModifiedBy>Marta Harana Herrera</cp:lastModifiedBy>
  <cp:revision>2</cp:revision>
  <dcterms:created xsi:type="dcterms:W3CDTF">2026-05-18T11:27:02Z</dcterms:created>
  <dcterms:modified xsi:type="dcterms:W3CDTF">2026-05-18T12:42:22Z</dcterms:modified>
</cp:coreProperties>
</file>