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4" r:id="rId3"/>
    <p:sldId id="258" r:id="rId4"/>
    <p:sldId id="268" r:id="rId5"/>
    <p:sldId id="267" r:id="rId6"/>
    <p:sldId id="269" r:id="rId7"/>
    <p:sldId id="270" r:id="rId8"/>
    <p:sldId id="272" r:id="rId9"/>
    <p:sldId id="273" r:id="rId10"/>
    <p:sldId id="274" r:id="rId11"/>
    <p:sldId id="275" r:id="rId12"/>
    <p:sldId id="271" r:id="rId13"/>
    <p:sldId id="276" r:id="rId14"/>
    <p:sldId id="277" r:id="rId15"/>
    <p:sldId id="278" r:id="rId1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2" autoAdjust="0"/>
    <p:restoredTop sz="94660"/>
  </p:normalViewPr>
  <p:slideViewPr>
    <p:cSldViewPr snapToGrid="0">
      <p:cViewPr varScale="1">
        <p:scale>
          <a:sx n="47" d="100"/>
          <a:sy n="47" d="100"/>
        </p:scale>
        <p:origin x="58" y="1003"/>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635A16-C07B-B7F4-83F8-81E07FDEBF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BF660649-46DA-88CC-4F88-5532DBA244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1DCAF7C-C32E-5A0B-ACFD-F69151706D02}"/>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48D3AE3A-86F5-236E-6C9C-66E7A5B300A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5D72EA7-B9DB-0A91-4CBE-189702EF2D0F}"/>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3924234035"/>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DC2C08-5E7F-0008-2FB2-68391D1A35B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78FA638-4EFF-3913-7576-C40EC0D1337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7F3AD35-1D47-C7AC-5376-7667E5EB21A3}"/>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BFAFBD18-A39E-F85D-399F-6A06AC75A2C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E01D3AC-BF46-946D-7DD5-ABB13D9BA953}"/>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261321333"/>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E8518C-53F5-E5B3-115D-81AA5D98A01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FE723CFD-B49A-1496-BF0A-AF531AE5DE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105D3D1-95A9-D8AD-C6F9-6A60F80402AC}"/>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139CB37E-B5DB-6B04-1F33-7A2DDE59EA7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0FC222B-B7EE-5E96-080E-8AC8F2169AC5}"/>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802445636"/>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C97DE9-3A52-A85F-EC42-D2C0CEA746A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19C4B65-C81B-323F-D94A-C33830D26EE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B426B9E6-51F4-D97D-A4CC-CE3058D0881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8B2ECC5D-1B79-A376-D530-278CCA0FA350}"/>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6" name="Marcador de pie de página 5">
            <a:extLst>
              <a:ext uri="{FF2B5EF4-FFF2-40B4-BE49-F238E27FC236}">
                <a16:creationId xmlns:a16="http://schemas.microsoft.com/office/drawing/2014/main" id="{9FAB815D-9E68-A117-4153-6C15B8C56C9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C8F3EAA-5E82-3BF6-3C1A-BD02B283CA50}"/>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2519806391"/>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416C25-8229-4ADD-9525-9E598B2810A1}"/>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29D0E2B-6670-E959-031B-5F043A2F4A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58CEDCC-3C3C-C1C3-6468-3FB48E00404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489824AE-3D3B-64EA-E5F5-132C17CB7C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54ADF1B-A13A-84CB-02EE-06260C8A57D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5484FBF6-01A3-E85B-A2D8-1CAFD690CA07}"/>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8" name="Marcador de pie de página 7">
            <a:extLst>
              <a:ext uri="{FF2B5EF4-FFF2-40B4-BE49-F238E27FC236}">
                <a16:creationId xmlns:a16="http://schemas.microsoft.com/office/drawing/2014/main" id="{4D0B8F0E-770A-406E-C511-B1BC566C7207}"/>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2F08804-9A41-5EB6-08AC-27CCE66690BC}"/>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1482642771"/>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1DFE28-DF7D-F69F-8FBE-3E7340E97A6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1ED84F5F-E004-4C28-0B7C-649196379E76}"/>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4" name="Marcador de pie de página 3">
            <a:extLst>
              <a:ext uri="{FF2B5EF4-FFF2-40B4-BE49-F238E27FC236}">
                <a16:creationId xmlns:a16="http://schemas.microsoft.com/office/drawing/2014/main" id="{38CE734A-54D3-4B32-087B-EB68364EFF70}"/>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983C5E1C-4C63-A1CC-43A0-18294BAFADAC}"/>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127137493"/>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762470E-D7C1-C7F0-04DF-BA1368179D02}"/>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3" name="Marcador de pie de página 2">
            <a:extLst>
              <a:ext uri="{FF2B5EF4-FFF2-40B4-BE49-F238E27FC236}">
                <a16:creationId xmlns:a16="http://schemas.microsoft.com/office/drawing/2014/main" id="{E283DBBE-FBF3-92BE-29FF-84852E1E556F}"/>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7C476398-64D9-556A-10DE-CA5253B09262}"/>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3101220509"/>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0F3D40-4EC7-A518-5AAC-293B2E63AD3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193DAFC-0D23-9D1B-1BC6-24B76ACAE6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F8AB1391-BBCB-0330-CD04-E0F12B356A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1E7EFB3-E352-7919-7639-D4879907FFA5}"/>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6" name="Marcador de pie de página 5">
            <a:extLst>
              <a:ext uri="{FF2B5EF4-FFF2-40B4-BE49-F238E27FC236}">
                <a16:creationId xmlns:a16="http://schemas.microsoft.com/office/drawing/2014/main" id="{1C1CDD09-0323-3B70-3569-2F94885A5DF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BF6E8DB-40F2-FC69-9CBF-C721BFEB2163}"/>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3445003248"/>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A71C37-5560-E79E-CC82-FEE8AA4D33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A660CC7E-D2FC-578C-B350-43238DBE26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198C0E62-76E8-C374-44AF-0376D2D3D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2BCF642-64DC-2D10-E9CF-0D14A15D4161}"/>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6" name="Marcador de pie de página 5">
            <a:extLst>
              <a:ext uri="{FF2B5EF4-FFF2-40B4-BE49-F238E27FC236}">
                <a16:creationId xmlns:a16="http://schemas.microsoft.com/office/drawing/2014/main" id="{EF90FF74-DD28-2057-ADA0-C9FB613A9E1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087DA0C-DB53-1119-0051-87E55EF5B5BA}"/>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1716603493"/>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E4BC9D-3952-93EE-A0CA-B4C20EEBA6CC}"/>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60E8329-5A46-5AAB-02F4-0076DD1D097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FD7A650-4FF1-FAD2-16E0-2F164E57CDC7}"/>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3A09C4C4-2DD2-27E0-C9B9-1EFE0A632E9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4ED4878-BE15-89FE-EDB3-98CF3DA29B78}"/>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4204935785"/>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C48B4EA-89DD-4745-0630-4947F832843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E8DA7E3-4801-071B-B234-D9C34616F16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2BAE786-9CFA-740F-5663-6732A61E802C}"/>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1FDEA138-3DEF-24C5-FBA2-3FCF7F580AF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1A504B3-1BD8-F71A-482C-C23A7BB17F2D}"/>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848248336"/>
      </p:ext>
    </p:extLst>
  </p:cSld>
  <p:clrMapOvr>
    <a:masterClrMapping/>
  </p:clrMapOvr>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60B6465-83DC-F489-6762-C5B5DB606C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4E0D529-C4AC-1997-79F7-6CD48BD5A1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AD2762F-7946-FE89-AD91-C4630FBD54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BF47F7F0-58F6-D167-C6CD-D37048E27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B4BFD49-37E5-4372-8F23-8BBE36B838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FF08F5-75E6-4458-BE36-89DDBB8663EA}" type="slidenum">
              <a:rPr lang="es-ES" smtClean="0"/>
              <a:t>‹Nº›</a:t>
            </a:fld>
            <a:endParaRPr lang="es-ES"/>
          </a:p>
        </p:txBody>
      </p:sp>
    </p:spTree>
    <p:extLst>
      <p:ext uri="{BB962C8B-B14F-4D97-AF65-F5344CB8AC3E}">
        <p14:creationId xmlns:p14="http://schemas.microsoft.com/office/powerpoint/2010/main" val="3045515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3400" advTm="0">
        <p14:reveal/>
      </p:transition>
    </mc:Choice>
    <mc:Fallback xmlns="">
      <p:transition spd="slow" advTm="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63912C7-0E15-213B-DFEC-5C526EC152CD}"/>
              </a:ext>
            </a:extLst>
          </p:cNvPr>
          <p:cNvSpPr>
            <a:spLocks noGrp="1"/>
          </p:cNvSpPr>
          <p:nvPr>
            <p:ph idx="1"/>
          </p:nvPr>
        </p:nvSpPr>
        <p:spPr>
          <a:xfrm>
            <a:off x="564822" y="468165"/>
            <a:ext cx="10785049" cy="1275794"/>
          </a:xfrm>
        </p:spPr>
        <p:txBody>
          <a:bodyPr>
            <a:normAutofit/>
          </a:bodyPr>
          <a:lstStyle/>
          <a:p>
            <a:pPr marL="0" indent="0" algn="ctr">
              <a:buNone/>
            </a:pPr>
            <a:r>
              <a:rPr lang="es-ES" sz="4000" b="1" dirty="0"/>
              <a:t>Análisis Exploratorio del Mercado de Alquiler Turístico en Málaga (2025)</a:t>
            </a:r>
          </a:p>
        </p:txBody>
      </p:sp>
      <p:sp>
        <p:nvSpPr>
          <p:cNvPr id="6" name="CuadroTexto 5">
            <a:extLst>
              <a:ext uri="{FF2B5EF4-FFF2-40B4-BE49-F238E27FC236}">
                <a16:creationId xmlns:a16="http://schemas.microsoft.com/office/drawing/2014/main" id="{060185BA-C508-9494-C4DB-0CAA584C1CA9}"/>
              </a:ext>
            </a:extLst>
          </p:cNvPr>
          <p:cNvSpPr txBox="1"/>
          <p:nvPr/>
        </p:nvSpPr>
        <p:spPr>
          <a:xfrm>
            <a:off x="835056" y="3429000"/>
            <a:ext cx="10596513" cy="2585323"/>
          </a:xfrm>
          <a:prstGeom prst="rect">
            <a:avLst/>
          </a:prstGeom>
          <a:noFill/>
        </p:spPr>
        <p:txBody>
          <a:bodyPr wrap="square">
            <a:spAutoFit/>
          </a:bodyPr>
          <a:lstStyle/>
          <a:p>
            <a:pPr marL="285750" indent="-285750" algn="just">
              <a:buFont typeface="Wingdings" panose="05000000000000000000" pitchFamily="2" charset="2"/>
              <a:buChar char="q"/>
            </a:pPr>
            <a:endParaRPr lang="es-ES" dirty="0"/>
          </a:p>
          <a:p>
            <a:pPr marL="285750" indent="-285750" algn="just">
              <a:buFont typeface="Wingdings" panose="05000000000000000000" pitchFamily="2" charset="2"/>
              <a:buChar char="q"/>
            </a:pPr>
            <a:endParaRPr lang="es-ES" dirty="0"/>
          </a:p>
          <a:p>
            <a:pPr marL="285750" indent="-285750" algn="just">
              <a:buFont typeface="Wingdings" panose="05000000000000000000" pitchFamily="2" charset="2"/>
              <a:buChar char="q"/>
            </a:pPr>
            <a:r>
              <a:rPr lang="es-ES" b="1" dirty="0"/>
              <a:t>Objetivos específicos:</a:t>
            </a:r>
          </a:p>
          <a:p>
            <a:pPr marL="285750" indent="-285750" algn="just">
              <a:buFont typeface="Wingdings" panose="05000000000000000000" pitchFamily="2" charset="2"/>
              <a:buChar char="q"/>
            </a:pPr>
            <a:endParaRPr lang="es-ES" b="1" dirty="0"/>
          </a:p>
          <a:p>
            <a:pPr marL="742950" lvl="1" indent="-285750" algn="just">
              <a:buFont typeface="Wingdings" panose="05000000000000000000" pitchFamily="2" charset="2"/>
              <a:buChar char="Ø"/>
            </a:pPr>
            <a:r>
              <a:rPr lang="es-ES" dirty="0"/>
              <a:t>Analizar la distribución de precios por barrio y tipo de alojamiento.</a:t>
            </a:r>
          </a:p>
          <a:p>
            <a:pPr marL="742950" lvl="1" indent="-285750" algn="just">
              <a:buFont typeface="Wingdings" panose="05000000000000000000" pitchFamily="2" charset="2"/>
              <a:buChar char="Ø"/>
            </a:pPr>
            <a:r>
              <a:rPr lang="es-ES" dirty="0"/>
              <a:t>Estudiar la relación entre demanda (reseñas), disponibilidad y precio.</a:t>
            </a:r>
          </a:p>
          <a:p>
            <a:pPr marL="742950" lvl="1" indent="-285750" algn="just">
              <a:buFont typeface="Wingdings" panose="05000000000000000000" pitchFamily="2" charset="2"/>
              <a:buChar char="Ø"/>
            </a:pPr>
            <a:r>
              <a:rPr lang="es-ES" dirty="0"/>
              <a:t>Detectar patrones estacionales en la demanda turística.</a:t>
            </a:r>
          </a:p>
          <a:p>
            <a:pPr marL="742950" lvl="1" indent="-285750" algn="just">
              <a:buFont typeface="Wingdings" panose="05000000000000000000" pitchFamily="2" charset="2"/>
              <a:buChar char="Ø"/>
            </a:pPr>
            <a:r>
              <a:rPr lang="es-ES" dirty="0"/>
              <a:t>Formular y contrastar 3 hipótesis basadas en los datos.</a:t>
            </a:r>
          </a:p>
          <a:p>
            <a:pPr algn="just"/>
            <a:endParaRPr lang="es-ES" dirty="0"/>
          </a:p>
        </p:txBody>
      </p:sp>
      <p:sp>
        <p:nvSpPr>
          <p:cNvPr id="4" name="CuadroTexto 3">
            <a:extLst>
              <a:ext uri="{FF2B5EF4-FFF2-40B4-BE49-F238E27FC236}">
                <a16:creationId xmlns:a16="http://schemas.microsoft.com/office/drawing/2014/main" id="{20275CC9-14C7-0BEF-A7ED-2DE620B1B419}"/>
              </a:ext>
            </a:extLst>
          </p:cNvPr>
          <p:cNvSpPr txBox="1"/>
          <p:nvPr/>
        </p:nvSpPr>
        <p:spPr>
          <a:xfrm>
            <a:off x="835056" y="2269119"/>
            <a:ext cx="10244579" cy="923330"/>
          </a:xfrm>
          <a:prstGeom prst="rect">
            <a:avLst/>
          </a:prstGeom>
          <a:noFill/>
        </p:spPr>
        <p:txBody>
          <a:bodyPr wrap="square">
            <a:spAutoFit/>
          </a:bodyPr>
          <a:lstStyle/>
          <a:p>
            <a:pPr marL="285750" indent="-285750" algn="just">
              <a:buFont typeface="Wingdings" panose="05000000000000000000" pitchFamily="2" charset="2"/>
              <a:buChar char="q"/>
            </a:pPr>
            <a:r>
              <a:rPr lang="es-ES" b="1" dirty="0"/>
              <a:t>Objetivo principal: </a:t>
            </a:r>
          </a:p>
          <a:p>
            <a:pPr algn="just"/>
            <a:endParaRPr lang="es-ES" b="1" dirty="0"/>
          </a:p>
          <a:p>
            <a:pPr algn="just"/>
            <a:r>
              <a:rPr lang="es-ES" dirty="0"/>
              <a:t>Entender los factores que influyen en el precio, la oferta y la demanda de alojamientos turísticos en Málaga.</a:t>
            </a:r>
          </a:p>
        </p:txBody>
      </p:sp>
    </p:spTree>
    <p:extLst>
      <p:ext uri="{BB962C8B-B14F-4D97-AF65-F5344CB8AC3E}">
        <p14:creationId xmlns:p14="http://schemas.microsoft.com/office/powerpoint/2010/main" val="528358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53C2CD1-4DF7-9CA4-3BE1-81FAC310FF5A}"/>
              </a:ext>
            </a:extLst>
          </p:cNvPr>
          <p:cNvSpPr>
            <a:spLocks noGrp="1"/>
          </p:cNvSpPr>
          <p:nvPr>
            <p:ph idx="1"/>
          </p:nvPr>
        </p:nvSpPr>
        <p:spPr>
          <a:xfrm>
            <a:off x="838200" y="590329"/>
            <a:ext cx="10515600" cy="5677342"/>
          </a:xfrm>
        </p:spPr>
        <p:txBody>
          <a:bodyPr/>
          <a:lstStyle/>
          <a:p>
            <a:pPr marL="0" indent="0" algn="just">
              <a:buNone/>
            </a:pPr>
            <a:r>
              <a:rPr lang="es-ES" sz="2000" dirty="0"/>
              <a:t>A partir del análisis general, formulamos tres hipótesis clave para entender las diferencias de precio entre barrios.</a:t>
            </a:r>
          </a:p>
          <a:p>
            <a:pPr marL="0" indent="0" algn="just">
              <a:buNone/>
            </a:pPr>
            <a:endParaRPr lang="es-ES" sz="2000" dirty="0"/>
          </a:p>
          <a:p>
            <a:pPr algn="just">
              <a:buFont typeface="Wingdings" panose="05000000000000000000" pitchFamily="2" charset="2"/>
              <a:buChar char="Ø"/>
            </a:pPr>
            <a:r>
              <a:rPr lang="es-ES" sz="2000" b="1" dirty="0"/>
              <a:t>Hipótesis 1: </a:t>
            </a:r>
            <a:r>
              <a:rPr lang="es-ES" sz="2000" dirty="0"/>
              <a:t>Los alojamientos ubicados en el Centro tienen precios más altos que los alojamientos del resto de barrios.</a:t>
            </a:r>
          </a:p>
          <a:p>
            <a:pPr algn="just">
              <a:buFont typeface="Wingdings" panose="05000000000000000000" pitchFamily="2" charset="2"/>
              <a:buChar char="Ø"/>
            </a:pPr>
            <a:endParaRPr lang="es-ES" sz="2000" dirty="0"/>
          </a:p>
          <a:p>
            <a:pPr algn="just">
              <a:buFont typeface="Wingdings" panose="05000000000000000000" pitchFamily="2" charset="2"/>
              <a:buChar char="Ø"/>
            </a:pPr>
            <a:r>
              <a:rPr lang="es-ES" sz="2000" b="1" dirty="0"/>
              <a:t>Hipótesis 2: </a:t>
            </a:r>
            <a:r>
              <a:rPr lang="es-ES" sz="2000" dirty="0"/>
              <a:t>El precio de los alojamientos con pocas reseñas es más alto que el de los que tienen muchas.</a:t>
            </a:r>
          </a:p>
          <a:p>
            <a:pPr algn="just">
              <a:buFont typeface="Wingdings" panose="05000000000000000000" pitchFamily="2" charset="2"/>
              <a:buChar char="Ø"/>
            </a:pPr>
            <a:endParaRPr lang="es-ES" sz="2000" dirty="0"/>
          </a:p>
          <a:p>
            <a:pPr algn="just">
              <a:buFont typeface="Wingdings" panose="05000000000000000000" pitchFamily="2" charset="2"/>
              <a:buChar char="Ø"/>
            </a:pPr>
            <a:r>
              <a:rPr lang="es-ES" sz="2000" b="1" dirty="0"/>
              <a:t>Hipótesis 3: </a:t>
            </a:r>
            <a:r>
              <a:rPr lang="es-ES" sz="2000" dirty="0"/>
              <a:t>La demanda de alojamientos en Málaga (medida por el volumen de reseñas mensuales) presenta un pico de crecimiento superior al 50% durante el tercer trimestre del año (julio, agosto, septiembre), siendo el Distrito Centro el que mantiene una demanda más estable durante el resto del año frente a las otras zonas.</a:t>
            </a:r>
          </a:p>
          <a:p>
            <a:endParaRPr lang="es-ES" dirty="0"/>
          </a:p>
        </p:txBody>
      </p:sp>
    </p:spTree>
    <p:extLst>
      <p:ext uri="{BB962C8B-B14F-4D97-AF65-F5344CB8AC3E}">
        <p14:creationId xmlns:p14="http://schemas.microsoft.com/office/powerpoint/2010/main" val="3543391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936035C-0FE7-E96A-D088-31DAB0139960}"/>
              </a:ext>
            </a:extLst>
          </p:cNvPr>
          <p:cNvSpPr txBox="1">
            <a:spLocks/>
          </p:cNvSpPr>
          <p:nvPr/>
        </p:nvSpPr>
        <p:spPr>
          <a:xfrm>
            <a:off x="838200" y="556179"/>
            <a:ext cx="10515600" cy="126319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2900" b="1" dirty="0">
                <a:latin typeface="+mn-lt"/>
                <a:ea typeface="+mn-ea"/>
                <a:cs typeface="+mn-cs"/>
              </a:rPr>
              <a:t>HIPÓTESIS 1: </a:t>
            </a:r>
            <a:r>
              <a:rPr lang="es-ES" sz="2900" b="1" i="1" dirty="0">
                <a:latin typeface="+mn-lt"/>
                <a:ea typeface="+mn-ea"/>
                <a:cs typeface="+mn-cs"/>
              </a:rPr>
              <a:t>“Los alojamientos ubicados en el Centro tienen precios más altos que los alojamientos del resto de barrios.”</a:t>
            </a:r>
          </a:p>
        </p:txBody>
      </p:sp>
      <p:sp>
        <p:nvSpPr>
          <p:cNvPr id="5" name="CuadroTexto 4">
            <a:extLst>
              <a:ext uri="{FF2B5EF4-FFF2-40B4-BE49-F238E27FC236}">
                <a16:creationId xmlns:a16="http://schemas.microsoft.com/office/drawing/2014/main" id="{7A22F31A-81B8-7E5F-E0A6-C252F3095B74}"/>
              </a:ext>
            </a:extLst>
          </p:cNvPr>
          <p:cNvSpPr txBox="1"/>
          <p:nvPr/>
        </p:nvSpPr>
        <p:spPr>
          <a:xfrm>
            <a:off x="838200" y="2201061"/>
            <a:ext cx="10046615" cy="3631763"/>
          </a:xfrm>
          <a:prstGeom prst="rect">
            <a:avLst/>
          </a:prstGeom>
          <a:noFill/>
        </p:spPr>
        <p:txBody>
          <a:bodyPr wrap="square">
            <a:spAutoFit/>
          </a:bodyPr>
          <a:lstStyle/>
          <a:p>
            <a:pPr algn="just">
              <a:buNone/>
            </a:pPr>
            <a:r>
              <a:rPr lang="es-ES" sz="3200" b="1" dirty="0"/>
              <a:t>PLANTEAMIENTO</a:t>
            </a:r>
          </a:p>
          <a:p>
            <a:pPr algn="just">
              <a:buNone/>
            </a:pPr>
            <a:endParaRPr lang="es-ES" b="1" dirty="0"/>
          </a:p>
          <a:p>
            <a:pPr marL="285750" indent="-285750" algn="just">
              <a:buFont typeface="Wingdings" panose="05000000000000000000" pitchFamily="2" charset="2"/>
              <a:buChar char="q"/>
            </a:pPr>
            <a:r>
              <a:rPr lang="es-ES" b="1" dirty="0">
                <a:effectLst/>
              </a:rPr>
              <a:t>Hipótesis inicial:</a:t>
            </a:r>
            <a:r>
              <a:rPr lang="es-ES" dirty="0">
                <a:effectLst/>
              </a:rPr>
              <a:t> El Centro debería ser el barrio más caro por ser la zona más turística, con mayor actividad económica y mayor demanda.</a:t>
            </a:r>
          </a:p>
          <a:p>
            <a:pPr marL="285750" indent="-285750" algn="just">
              <a:buFont typeface="Wingdings" panose="05000000000000000000" pitchFamily="2" charset="2"/>
              <a:buChar char="q"/>
            </a:pPr>
            <a:endParaRPr lang="es-ES" dirty="0"/>
          </a:p>
          <a:p>
            <a:pPr marL="285750" indent="-285750" algn="just">
              <a:buFont typeface="Wingdings" panose="05000000000000000000" pitchFamily="2" charset="2"/>
              <a:buChar char="q"/>
            </a:pPr>
            <a:r>
              <a:rPr lang="es-ES" b="1" dirty="0">
                <a:effectLst/>
              </a:rPr>
              <a:t>Objetivo del análisis:</a:t>
            </a:r>
            <a:r>
              <a:rPr lang="es-ES" dirty="0">
                <a:effectLst/>
              </a:rPr>
              <a:t> Comprobar si esta hipótesis es cierta y entender qué factores explican las diferencias de precio entre barrios, analizando:</a:t>
            </a:r>
          </a:p>
          <a:p>
            <a:pPr algn="just"/>
            <a:endParaRPr lang="es-ES" dirty="0"/>
          </a:p>
          <a:p>
            <a:pPr marL="742950" lvl="1" indent="-285750" algn="just">
              <a:buFont typeface="Wingdings" panose="05000000000000000000" pitchFamily="2" charset="2"/>
              <a:buChar char="Ø"/>
            </a:pPr>
            <a:r>
              <a:rPr lang="es-ES" dirty="0">
                <a:effectLst/>
              </a:rPr>
              <a:t>La oferta total de alojamientos</a:t>
            </a:r>
            <a:endParaRPr lang="es-ES" dirty="0"/>
          </a:p>
          <a:p>
            <a:pPr marL="742950" lvl="1" indent="-285750" algn="just">
              <a:buFont typeface="Wingdings" panose="05000000000000000000" pitchFamily="2" charset="2"/>
              <a:buChar char="Ø"/>
            </a:pPr>
            <a:r>
              <a:rPr lang="es-ES" dirty="0">
                <a:effectLst/>
              </a:rPr>
              <a:t>La composición por tipo de alojamiento</a:t>
            </a:r>
            <a:endParaRPr lang="es-ES" dirty="0"/>
          </a:p>
          <a:p>
            <a:pPr marL="742950" lvl="1" indent="-285750" algn="just">
              <a:buFont typeface="Wingdings" panose="05000000000000000000" pitchFamily="2" charset="2"/>
              <a:buChar char="Ø"/>
            </a:pPr>
            <a:r>
              <a:rPr lang="es-ES" dirty="0">
                <a:effectLst/>
              </a:rPr>
              <a:t>La relación entre precio, demanda y disponibilidad</a:t>
            </a:r>
            <a:endParaRPr lang="es-ES" dirty="0"/>
          </a:p>
          <a:p>
            <a:pPr marL="742950" lvl="1" indent="-285750" algn="just">
              <a:buFont typeface="Wingdings" panose="05000000000000000000" pitchFamily="2" charset="2"/>
              <a:buChar char="Ø"/>
            </a:pPr>
            <a:r>
              <a:rPr lang="es-ES" dirty="0">
                <a:effectLst/>
              </a:rPr>
              <a:t>El posible efecto de la localización</a:t>
            </a:r>
            <a:endParaRPr lang="es-ES" dirty="0"/>
          </a:p>
        </p:txBody>
      </p:sp>
    </p:spTree>
    <p:extLst>
      <p:ext uri="{BB962C8B-B14F-4D97-AF65-F5344CB8AC3E}">
        <p14:creationId xmlns:p14="http://schemas.microsoft.com/office/powerpoint/2010/main" val="3147707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C20A48C-ADFA-EF12-DD97-46A7A3157649}"/>
              </a:ext>
            </a:extLst>
          </p:cNvPr>
          <p:cNvSpPr txBox="1"/>
          <p:nvPr/>
        </p:nvSpPr>
        <p:spPr>
          <a:xfrm>
            <a:off x="234884" y="268566"/>
            <a:ext cx="11485776" cy="1969770"/>
          </a:xfrm>
          <a:prstGeom prst="rect">
            <a:avLst/>
          </a:prstGeom>
          <a:noFill/>
        </p:spPr>
        <p:txBody>
          <a:bodyPr wrap="square">
            <a:spAutoFit/>
          </a:bodyPr>
          <a:lstStyle/>
          <a:p>
            <a:pPr algn="ctr">
              <a:buNone/>
            </a:pPr>
            <a:r>
              <a:rPr lang="es-ES" sz="3200" b="1" dirty="0"/>
              <a:t>ANÁLISIS</a:t>
            </a:r>
          </a:p>
          <a:p>
            <a:pPr algn="just">
              <a:buNone/>
            </a:pPr>
            <a:endParaRPr lang="es-ES" b="1" dirty="0"/>
          </a:p>
          <a:p>
            <a:pPr algn="just"/>
            <a:r>
              <a:rPr lang="es-ES" dirty="0"/>
              <a:t>Hicimos una primera comparación de los precios por barrios y vimos que había alojamientos con precios muy altos que podían distorsionar el precio medio. Para evitar esa distorsión, en lugar de fijarnos en la media utilizamos la </a:t>
            </a:r>
            <a:r>
              <a:rPr lang="es-ES" b="1" dirty="0"/>
              <a:t>mediana</a:t>
            </a:r>
            <a:r>
              <a:rPr lang="es-ES" dirty="0"/>
              <a:t>, que refleja mucho mejor el “precio típico” de cada barrio.</a:t>
            </a:r>
          </a:p>
          <a:p>
            <a:pPr algn="just"/>
            <a:r>
              <a:rPr lang="es-ES" dirty="0"/>
              <a:t>Esto nos permitió ver con claridad qué zonas son realmente más caras sin que los precios extremos afecten al resultado.</a:t>
            </a:r>
          </a:p>
        </p:txBody>
      </p:sp>
      <p:pic>
        <p:nvPicPr>
          <p:cNvPr id="8" name="Imagen 7">
            <a:extLst>
              <a:ext uri="{FF2B5EF4-FFF2-40B4-BE49-F238E27FC236}">
                <a16:creationId xmlns:a16="http://schemas.microsoft.com/office/drawing/2014/main" id="{2D8EC8FB-535E-1985-DACB-9C1EE1A2292A}"/>
              </a:ext>
            </a:extLst>
          </p:cNvPr>
          <p:cNvPicPr>
            <a:picLocks noChangeAspect="1"/>
          </p:cNvPicPr>
          <p:nvPr/>
        </p:nvPicPr>
        <p:blipFill>
          <a:blip r:embed="rId2"/>
          <a:stretch>
            <a:fillRect/>
          </a:stretch>
        </p:blipFill>
        <p:spPr>
          <a:xfrm>
            <a:off x="339411" y="2479250"/>
            <a:ext cx="5756589" cy="3393907"/>
          </a:xfrm>
          <a:prstGeom prst="rect">
            <a:avLst/>
          </a:prstGeom>
        </p:spPr>
      </p:pic>
      <p:pic>
        <p:nvPicPr>
          <p:cNvPr id="10" name="Imagen 9">
            <a:extLst>
              <a:ext uri="{FF2B5EF4-FFF2-40B4-BE49-F238E27FC236}">
                <a16:creationId xmlns:a16="http://schemas.microsoft.com/office/drawing/2014/main" id="{3CA72B17-1E42-8ADA-BCC9-54FAF58B3F7E}"/>
              </a:ext>
            </a:extLst>
          </p:cNvPr>
          <p:cNvPicPr>
            <a:picLocks noChangeAspect="1"/>
          </p:cNvPicPr>
          <p:nvPr/>
        </p:nvPicPr>
        <p:blipFill>
          <a:blip r:embed="rId3"/>
          <a:stretch>
            <a:fillRect/>
          </a:stretch>
        </p:blipFill>
        <p:spPr>
          <a:xfrm>
            <a:off x="6350414" y="2984113"/>
            <a:ext cx="5257993" cy="2823056"/>
          </a:xfrm>
          <a:prstGeom prst="rect">
            <a:avLst/>
          </a:prstGeom>
        </p:spPr>
      </p:pic>
      <p:cxnSp>
        <p:nvCxnSpPr>
          <p:cNvPr id="12" name="Conector recto de flecha 11">
            <a:extLst>
              <a:ext uri="{FF2B5EF4-FFF2-40B4-BE49-F238E27FC236}">
                <a16:creationId xmlns:a16="http://schemas.microsoft.com/office/drawing/2014/main" id="{B704406E-AAB4-ED4C-D9B1-988BB76C0615}"/>
              </a:ext>
            </a:extLst>
          </p:cNvPr>
          <p:cNvCxnSpPr>
            <a:cxnSpLocks/>
          </p:cNvCxnSpPr>
          <p:nvPr/>
        </p:nvCxnSpPr>
        <p:spPr>
          <a:xfrm flipV="1">
            <a:off x="234884" y="4333901"/>
            <a:ext cx="764357" cy="124178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93ADC4DB-A5CC-DE8D-E7BB-64116070727B}"/>
              </a:ext>
            </a:extLst>
          </p:cNvPr>
          <p:cNvSpPr txBox="1"/>
          <p:nvPr/>
        </p:nvSpPr>
        <p:spPr>
          <a:xfrm>
            <a:off x="84997" y="5667859"/>
            <a:ext cx="1536569" cy="646331"/>
          </a:xfrm>
          <a:prstGeom prst="rect">
            <a:avLst/>
          </a:prstGeom>
          <a:noFill/>
        </p:spPr>
        <p:txBody>
          <a:bodyPr wrap="square">
            <a:spAutoFit/>
          </a:bodyPr>
          <a:lstStyle/>
          <a:p>
            <a:pPr algn="just"/>
            <a:r>
              <a:rPr lang="es-ES" b="1" dirty="0">
                <a:solidFill>
                  <a:srgbClr val="FF0000"/>
                </a:solidFill>
              </a:rPr>
              <a:t>Precios muy elevados</a:t>
            </a:r>
          </a:p>
        </p:txBody>
      </p:sp>
      <p:sp>
        <p:nvSpPr>
          <p:cNvPr id="17" name="Rectángulo 16">
            <a:extLst>
              <a:ext uri="{FF2B5EF4-FFF2-40B4-BE49-F238E27FC236}">
                <a16:creationId xmlns:a16="http://schemas.microsoft.com/office/drawing/2014/main" id="{B63658AE-FFF3-F615-A705-37405F6A53C2}"/>
              </a:ext>
            </a:extLst>
          </p:cNvPr>
          <p:cNvSpPr/>
          <p:nvPr/>
        </p:nvSpPr>
        <p:spPr>
          <a:xfrm>
            <a:off x="9700181" y="3289955"/>
            <a:ext cx="433633" cy="228572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07FFF9F4-EFFB-3A16-4D7C-954095EEB121}"/>
              </a:ext>
            </a:extLst>
          </p:cNvPr>
          <p:cNvSpPr txBox="1"/>
          <p:nvPr/>
        </p:nvSpPr>
        <p:spPr>
          <a:xfrm>
            <a:off x="8001407" y="5873157"/>
            <a:ext cx="3662692" cy="646331"/>
          </a:xfrm>
          <a:prstGeom prst="rect">
            <a:avLst/>
          </a:prstGeom>
          <a:noFill/>
        </p:spPr>
        <p:txBody>
          <a:bodyPr wrap="square">
            <a:spAutoFit/>
          </a:bodyPr>
          <a:lstStyle/>
          <a:p>
            <a:pPr algn="just"/>
            <a:r>
              <a:rPr lang="es-ES" b="1" dirty="0">
                <a:solidFill>
                  <a:srgbClr val="FF0000"/>
                </a:solidFill>
              </a:rPr>
              <a:t>NO SE CONFIRMA LA HIPÓTEIS, el CENTRO se sitúa en la 4 posición.</a:t>
            </a:r>
          </a:p>
        </p:txBody>
      </p:sp>
    </p:spTree>
    <p:extLst>
      <p:ext uri="{BB962C8B-B14F-4D97-AF65-F5344CB8AC3E}">
        <p14:creationId xmlns:p14="http://schemas.microsoft.com/office/powerpoint/2010/main" val="1931060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2">
            <a:extLst>
              <a:ext uri="{FF2B5EF4-FFF2-40B4-BE49-F238E27FC236}">
                <a16:creationId xmlns:a16="http://schemas.microsoft.com/office/drawing/2014/main" id="{84656C70-C30E-D9F3-6992-A54F019588FB}"/>
              </a:ext>
            </a:extLst>
          </p:cNvPr>
          <p:cNvSpPr>
            <a:spLocks noGrp="1"/>
          </p:cNvSpPr>
          <p:nvPr>
            <p:ph idx="1"/>
          </p:nvPr>
        </p:nvSpPr>
        <p:spPr>
          <a:xfrm>
            <a:off x="338578" y="553006"/>
            <a:ext cx="10785049" cy="653625"/>
          </a:xfrm>
        </p:spPr>
        <p:txBody>
          <a:bodyPr>
            <a:normAutofit/>
          </a:bodyPr>
          <a:lstStyle/>
          <a:p>
            <a:pPr marL="0" indent="0" algn="ctr">
              <a:buNone/>
            </a:pPr>
            <a:r>
              <a:rPr lang="es-ES" sz="4000" b="1" dirty="0"/>
              <a:t>RESULTADOS OBTENIDOS</a:t>
            </a:r>
          </a:p>
          <a:p>
            <a:pPr marL="0" indent="0" algn="ctr">
              <a:buNone/>
            </a:pPr>
            <a:endParaRPr lang="es-ES" sz="4000" b="1" dirty="0"/>
          </a:p>
        </p:txBody>
      </p:sp>
      <p:pic>
        <p:nvPicPr>
          <p:cNvPr id="3" name="Imagen 2">
            <a:extLst>
              <a:ext uri="{FF2B5EF4-FFF2-40B4-BE49-F238E27FC236}">
                <a16:creationId xmlns:a16="http://schemas.microsoft.com/office/drawing/2014/main" id="{0E5F03C7-C224-EF94-8634-6F075058BA5F}"/>
              </a:ext>
            </a:extLst>
          </p:cNvPr>
          <p:cNvPicPr>
            <a:picLocks noChangeAspect="1"/>
          </p:cNvPicPr>
          <p:nvPr/>
        </p:nvPicPr>
        <p:blipFill>
          <a:blip r:embed="rId2"/>
          <a:stretch>
            <a:fillRect/>
          </a:stretch>
        </p:blipFill>
        <p:spPr>
          <a:xfrm>
            <a:off x="523721" y="1366885"/>
            <a:ext cx="5406247" cy="3327663"/>
          </a:xfrm>
          <a:prstGeom prst="rect">
            <a:avLst/>
          </a:prstGeom>
        </p:spPr>
      </p:pic>
      <p:cxnSp>
        <p:nvCxnSpPr>
          <p:cNvPr id="7" name="Conector recto de flecha 6">
            <a:extLst>
              <a:ext uri="{FF2B5EF4-FFF2-40B4-BE49-F238E27FC236}">
                <a16:creationId xmlns:a16="http://schemas.microsoft.com/office/drawing/2014/main" id="{5701FA0E-6E7C-29EB-FE48-5DED8A478442}"/>
              </a:ext>
            </a:extLst>
          </p:cNvPr>
          <p:cNvCxnSpPr>
            <a:cxnSpLocks/>
          </p:cNvCxnSpPr>
          <p:nvPr/>
        </p:nvCxnSpPr>
        <p:spPr>
          <a:xfrm flipV="1">
            <a:off x="1027522" y="4694548"/>
            <a:ext cx="593888" cy="3535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46BEB2B4-BDD1-48AC-2F2A-7EB7E83E29E2}"/>
              </a:ext>
            </a:extLst>
          </p:cNvPr>
          <p:cNvSpPr txBox="1"/>
          <p:nvPr/>
        </p:nvSpPr>
        <p:spPr>
          <a:xfrm>
            <a:off x="179264" y="5104665"/>
            <a:ext cx="5269428" cy="1477328"/>
          </a:xfrm>
          <a:prstGeom prst="rect">
            <a:avLst/>
          </a:prstGeom>
          <a:noFill/>
        </p:spPr>
        <p:txBody>
          <a:bodyPr wrap="square">
            <a:spAutoFit/>
          </a:bodyPr>
          <a:lstStyle/>
          <a:p>
            <a:r>
              <a:rPr lang="es-ES" b="1" dirty="0">
                <a:solidFill>
                  <a:srgbClr val="FF0000"/>
                </a:solidFill>
              </a:rPr>
              <a:t>Los pisos completos son los más caros</a:t>
            </a:r>
          </a:p>
          <a:p>
            <a:r>
              <a:rPr lang="es-ES" b="1" dirty="0">
                <a:solidFill>
                  <a:srgbClr val="FF0000"/>
                </a:solidFill>
              </a:rPr>
              <a:t>Los alojamientos que se alquilan enteros son, con diferencia, los que tienen los precios más altos en todos los barrios. Las habitaciones privadas, compartidas o de hotel son mucho más económicas.</a:t>
            </a:r>
          </a:p>
        </p:txBody>
      </p:sp>
      <p:pic>
        <p:nvPicPr>
          <p:cNvPr id="15" name="Imagen 14">
            <a:extLst>
              <a:ext uri="{FF2B5EF4-FFF2-40B4-BE49-F238E27FC236}">
                <a16:creationId xmlns:a16="http://schemas.microsoft.com/office/drawing/2014/main" id="{8027EBB5-E652-38D8-CCC4-7BE640F051CF}"/>
              </a:ext>
            </a:extLst>
          </p:cNvPr>
          <p:cNvPicPr>
            <a:picLocks noChangeAspect="1"/>
          </p:cNvPicPr>
          <p:nvPr/>
        </p:nvPicPr>
        <p:blipFill>
          <a:blip r:embed="rId3"/>
          <a:stretch>
            <a:fillRect/>
          </a:stretch>
        </p:blipFill>
        <p:spPr>
          <a:xfrm>
            <a:off x="6262034" y="1297950"/>
            <a:ext cx="5539086" cy="3750103"/>
          </a:xfrm>
          <a:prstGeom prst="rect">
            <a:avLst/>
          </a:prstGeom>
        </p:spPr>
      </p:pic>
      <p:cxnSp>
        <p:nvCxnSpPr>
          <p:cNvPr id="16" name="Conector recto de flecha 15">
            <a:extLst>
              <a:ext uri="{FF2B5EF4-FFF2-40B4-BE49-F238E27FC236}">
                <a16:creationId xmlns:a16="http://schemas.microsoft.com/office/drawing/2014/main" id="{4CF83787-8526-7DFA-8076-64CDB46779D7}"/>
              </a:ext>
            </a:extLst>
          </p:cNvPr>
          <p:cNvCxnSpPr>
            <a:cxnSpLocks/>
          </p:cNvCxnSpPr>
          <p:nvPr/>
        </p:nvCxnSpPr>
        <p:spPr>
          <a:xfrm flipV="1">
            <a:off x="8418136" y="2422689"/>
            <a:ext cx="2799761" cy="19230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FA43F061-F3C2-D923-C17E-79F802583AA2}"/>
              </a:ext>
            </a:extLst>
          </p:cNvPr>
          <p:cNvSpPr txBox="1"/>
          <p:nvPr/>
        </p:nvSpPr>
        <p:spPr>
          <a:xfrm>
            <a:off x="6844013" y="5048053"/>
            <a:ext cx="4867065" cy="1754326"/>
          </a:xfrm>
          <a:prstGeom prst="rect">
            <a:avLst/>
          </a:prstGeom>
          <a:noFill/>
        </p:spPr>
        <p:txBody>
          <a:bodyPr wrap="square">
            <a:spAutoFit/>
          </a:bodyPr>
          <a:lstStyle/>
          <a:p>
            <a:r>
              <a:rPr lang="es-ES" b="1" dirty="0">
                <a:solidFill>
                  <a:srgbClr val="FF0000"/>
                </a:solidFill>
              </a:rPr>
              <a:t>El tamaño importa</a:t>
            </a:r>
          </a:p>
          <a:p>
            <a:r>
              <a:rPr lang="es-ES" b="1" dirty="0">
                <a:solidFill>
                  <a:srgbClr val="FF0000"/>
                </a:solidFill>
              </a:rPr>
              <a:t>Cuantas más personas caben en un alojamiento, más sube el precio. </a:t>
            </a:r>
          </a:p>
          <a:p>
            <a:r>
              <a:rPr lang="es-ES" b="1" dirty="0">
                <a:solidFill>
                  <a:srgbClr val="FF0000"/>
                </a:solidFill>
              </a:rPr>
              <a:t>Los alojamientos grandes son siempre más caros que los pequeños.</a:t>
            </a:r>
          </a:p>
          <a:p>
            <a:pPr algn="just"/>
            <a:endParaRPr lang="es-ES" b="1" dirty="0">
              <a:solidFill>
                <a:srgbClr val="FF0000"/>
              </a:solidFill>
            </a:endParaRPr>
          </a:p>
        </p:txBody>
      </p:sp>
    </p:spTree>
    <p:extLst>
      <p:ext uri="{BB962C8B-B14F-4D97-AF65-F5344CB8AC3E}">
        <p14:creationId xmlns:p14="http://schemas.microsoft.com/office/powerpoint/2010/main" val="3191711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86A38-A8F2-EA3B-6BDF-837F553C385D}"/>
            </a:ext>
          </a:extLst>
        </p:cNvPr>
        <p:cNvGrpSpPr/>
        <p:nvPr/>
      </p:nvGrpSpPr>
      <p:grpSpPr>
        <a:xfrm>
          <a:off x="0" y="0"/>
          <a:ext cx="0" cy="0"/>
          <a:chOff x="0" y="0"/>
          <a:chExt cx="0" cy="0"/>
        </a:xfrm>
      </p:grpSpPr>
      <p:sp>
        <p:nvSpPr>
          <p:cNvPr id="6" name="Marcador de contenido 2">
            <a:extLst>
              <a:ext uri="{FF2B5EF4-FFF2-40B4-BE49-F238E27FC236}">
                <a16:creationId xmlns:a16="http://schemas.microsoft.com/office/drawing/2014/main" id="{EBBA7EC8-18DB-813A-667D-BDBCB44FBCED}"/>
              </a:ext>
            </a:extLst>
          </p:cNvPr>
          <p:cNvSpPr>
            <a:spLocks noGrp="1"/>
          </p:cNvSpPr>
          <p:nvPr>
            <p:ph idx="1"/>
          </p:nvPr>
        </p:nvSpPr>
        <p:spPr>
          <a:xfrm>
            <a:off x="338578" y="553006"/>
            <a:ext cx="10785049" cy="653625"/>
          </a:xfrm>
        </p:spPr>
        <p:txBody>
          <a:bodyPr>
            <a:normAutofit/>
          </a:bodyPr>
          <a:lstStyle/>
          <a:p>
            <a:pPr marL="0" indent="0" algn="ctr">
              <a:buNone/>
            </a:pPr>
            <a:r>
              <a:rPr lang="es-ES" sz="4000" b="1" dirty="0"/>
              <a:t>RESULTADOS OBTENIDOS</a:t>
            </a:r>
          </a:p>
          <a:p>
            <a:pPr marL="0" indent="0" algn="ctr">
              <a:buNone/>
            </a:pPr>
            <a:endParaRPr lang="es-ES" sz="4000" b="1" dirty="0"/>
          </a:p>
        </p:txBody>
      </p:sp>
      <p:cxnSp>
        <p:nvCxnSpPr>
          <p:cNvPr id="7" name="Conector recto de flecha 6">
            <a:extLst>
              <a:ext uri="{FF2B5EF4-FFF2-40B4-BE49-F238E27FC236}">
                <a16:creationId xmlns:a16="http://schemas.microsoft.com/office/drawing/2014/main" id="{B7269D03-01DC-A976-A301-A52DA2FCBCB3}"/>
              </a:ext>
            </a:extLst>
          </p:cNvPr>
          <p:cNvCxnSpPr>
            <a:cxnSpLocks/>
          </p:cNvCxnSpPr>
          <p:nvPr/>
        </p:nvCxnSpPr>
        <p:spPr>
          <a:xfrm flipV="1">
            <a:off x="1178350" y="4694547"/>
            <a:ext cx="254524" cy="4569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EA344279-F9B0-4B70-96B4-CED96AEB9E59}"/>
              </a:ext>
            </a:extLst>
          </p:cNvPr>
          <p:cNvSpPr txBox="1"/>
          <p:nvPr/>
        </p:nvSpPr>
        <p:spPr>
          <a:xfrm>
            <a:off x="179264" y="5151473"/>
            <a:ext cx="5269428" cy="1477328"/>
          </a:xfrm>
          <a:prstGeom prst="rect">
            <a:avLst/>
          </a:prstGeom>
          <a:noFill/>
        </p:spPr>
        <p:txBody>
          <a:bodyPr wrap="square">
            <a:spAutoFit/>
          </a:bodyPr>
          <a:lstStyle/>
          <a:p>
            <a:r>
              <a:rPr lang="es-ES" b="1" dirty="0">
                <a:solidFill>
                  <a:srgbClr val="FF0000"/>
                </a:solidFill>
              </a:rPr>
              <a:t>Los alojamientos que se reservan para pocos días son los que tienen el precio por noche más alto. Esto es normal porque las estancias cortas implican más trabajo para el anfitrión (limpiezas, cambios, gestión), y por eso el precio sube.</a:t>
            </a:r>
          </a:p>
        </p:txBody>
      </p:sp>
      <p:pic>
        <p:nvPicPr>
          <p:cNvPr id="4" name="Imagen 3">
            <a:extLst>
              <a:ext uri="{FF2B5EF4-FFF2-40B4-BE49-F238E27FC236}">
                <a16:creationId xmlns:a16="http://schemas.microsoft.com/office/drawing/2014/main" id="{6F60FC67-D94F-08E0-F950-B442DE8C6E43}"/>
              </a:ext>
            </a:extLst>
          </p:cNvPr>
          <p:cNvPicPr>
            <a:picLocks noChangeAspect="1"/>
          </p:cNvPicPr>
          <p:nvPr/>
        </p:nvPicPr>
        <p:blipFill>
          <a:blip r:embed="rId2"/>
          <a:stretch>
            <a:fillRect/>
          </a:stretch>
        </p:blipFill>
        <p:spPr>
          <a:xfrm>
            <a:off x="529823" y="1310050"/>
            <a:ext cx="4918869" cy="3281078"/>
          </a:xfrm>
          <a:prstGeom prst="rect">
            <a:avLst/>
          </a:prstGeom>
        </p:spPr>
      </p:pic>
      <p:pic>
        <p:nvPicPr>
          <p:cNvPr id="8" name="Imagen 7">
            <a:extLst>
              <a:ext uri="{FF2B5EF4-FFF2-40B4-BE49-F238E27FC236}">
                <a16:creationId xmlns:a16="http://schemas.microsoft.com/office/drawing/2014/main" id="{E956D10B-F0FC-080E-F5D0-DB39C2C2A565}"/>
              </a:ext>
            </a:extLst>
          </p:cNvPr>
          <p:cNvPicPr>
            <a:picLocks noChangeAspect="1"/>
          </p:cNvPicPr>
          <p:nvPr/>
        </p:nvPicPr>
        <p:blipFill>
          <a:blip r:embed="rId3"/>
          <a:stretch>
            <a:fillRect/>
          </a:stretch>
        </p:blipFill>
        <p:spPr>
          <a:xfrm>
            <a:off x="7024485" y="1206631"/>
            <a:ext cx="3313079" cy="2222369"/>
          </a:xfrm>
          <a:prstGeom prst="rect">
            <a:avLst/>
          </a:prstGeom>
        </p:spPr>
      </p:pic>
      <p:pic>
        <p:nvPicPr>
          <p:cNvPr id="11" name="Imagen 10">
            <a:extLst>
              <a:ext uri="{FF2B5EF4-FFF2-40B4-BE49-F238E27FC236}">
                <a16:creationId xmlns:a16="http://schemas.microsoft.com/office/drawing/2014/main" id="{49284FE2-089D-9896-B891-A8E6498F912F}"/>
              </a:ext>
            </a:extLst>
          </p:cNvPr>
          <p:cNvPicPr>
            <a:picLocks noChangeAspect="1"/>
          </p:cNvPicPr>
          <p:nvPr/>
        </p:nvPicPr>
        <p:blipFill>
          <a:blip r:embed="rId4"/>
          <a:stretch>
            <a:fillRect/>
          </a:stretch>
        </p:blipFill>
        <p:spPr>
          <a:xfrm>
            <a:off x="7099733" y="3429000"/>
            <a:ext cx="3162582" cy="2144245"/>
          </a:xfrm>
          <a:prstGeom prst="rect">
            <a:avLst/>
          </a:prstGeom>
        </p:spPr>
      </p:pic>
      <p:sp>
        <p:nvSpPr>
          <p:cNvPr id="12" name="CuadroTexto 11">
            <a:extLst>
              <a:ext uri="{FF2B5EF4-FFF2-40B4-BE49-F238E27FC236}">
                <a16:creationId xmlns:a16="http://schemas.microsoft.com/office/drawing/2014/main" id="{AA2C65BD-1A3E-4438-C456-FF5D15C26187}"/>
              </a:ext>
            </a:extLst>
          </p:cNvPr>
          <p:cNvSpPr txBox="1"/>
          <p:nvPr/>
        </p:nvSpPr>
        <p:spPr>
          <a:xfrm>
            <a:off x="6513760" y="5879095"/>
            <a:ext cx="5269428" cy="369332"/>
          </a:xfrm>
          <a:prstGeom prst="rect">
            <a:avLst/>
          </a:prstGeom>
          <a:noFill/>
        </p:spPr>
        <p:txBody>
          <a:bodyPr wrap="square">
            <a:spAutoFit/>
          </a:bodyPr>
          <a:lstStyle/>
          <a:p>
            <a:r>
              <a:rPr lang="es-ES" b="1" dirty="0">
                <a:solidFill>
                  <a:srgbClr val="FF0000"/>
                </a:solidFill>
              </a:rPr>
              <a:t>Las reseñas y la disponibilidad NO explican el precio</a:t>
            </a:r>
            <a:r>
              <a:rPr lang="es-ES" dirty="0"/>
              <a:t>.</a:t>
            </a:r>
            <a:endParaRPr lang="es-ES" b="1" dirty="0">
              <a:solidFill>
                <a:srgbClr val="FF0000"/>
              </a:solidFill>
            </a:endParaRPr>
          </a:p>
        </p:txBody>
      </p:sp>
    </p:spTree>
    <p:extLst>
      <p:ext uri="{BB962C8B-B14F-4D97-AF65-F5344CB8AC3E}">
        <p14:creationId xmlns:p14="http://schemas.microsoft.com/office/powerpoint/2010/main" val="2888215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C1A87-9A14-A1C1-36E1-1365275F0E6A}"/>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1490357D-54BF-863D-F2D8-2D86B32C9C86}"/>
              </a:ext>
            </a:extLst>
          </p:cNvPr>
          <p:cNvSpPr txBox="1"/>
          <p:nvPr/>
        </p:nvSpPr>
        <p:spPr>
          <a:xfrm>
            <a:off x="939535" y="994751"/>
            <a:ext cx="5008778" cy="923330"/>
          </a:xfrm>
          <a:prstGeom prst="rect">
            <a:avLst/>
          </a:prstGeom>
          <a:noFill/>
        </p:spPr>
        <p:txBody>
          <a:bodyPr wrap="square">
            <a:spAutoFit/>
          </a:bodyPr>
          <a:lstStyle/>
          <a:p>
            <a:pPr algn="just"/>
            <a:r>
              <a:rPr lang="es-ES" b="1" dirty="0"/>
              <a:t>Muchísima oferta → </a:t>
            </a:r>
            <a:r>
              <a:rPr lang="es-ES" dirty="0"/>
              <a:t>+4.000 alojamientos</a:t>
            </a:r>
          </a:p>
          <a:p>
            <a:pPr algn="just"/>
            <a:r>
              <a:rPr lang="es-ES" dirty="0"/>
              <a:t>Predominan estudios y espacios pequeños</a:t>
            </a:r>
          </a:p>
          <a:p>
            <a:pPr algn="just"/>
            <a:r>
              <a:rPr lang="es-ES" dirty="0"/>
              <a:t>Competencia alta → </a:t>
            </a:r>
            <a:r>
              <a:rPr lang="es-ES" b="1" dirty="0"/>
              <a:t>PRECIOS MAS AJUSTADOS</a:t>
            </a:r>
            <a:endParaRPr lang="es-ES" dirty="0"/>
          </a:p>
        </p:txBody>
      </p:sp>
      <p:sp>
        <p:nvSpPr>
          <p:cNvPr id="3" name="CuadroTexto 2">
            <a:extLst>
              <a:ext uri="{FF2B5EF4-FFF2-40B4-BE49-F238E27FC236}">
                <a16:creationId xmlns:a16="http://schemas.microsoft.com/office/drawing/2014/main" id="{ABB29F1D-B816-6419-981A-1D677CEF592D}"/>
              </a:ext>
            </a:extLst>
          </p:cNvPr>
          <p:cNvSpPr txBox="1"/>
          <p:nvPr/>
        </p:nvSpPr>
        <p:spPr>
          <a:xfrm>
            <a:off x="939535" y="2103696"/>
            <a:ext cx="5008778" cy="1200329"/>
          </a:xfrm>
          <a:prstGeom prst="rect">
            <a:avLst/>
          </a:prstGeom>
          <a:noFill/>
        </p:spPr>
        <p:txBody>
          <a:bodyPr wrap="square">
            <a:spAutoFit/>
          </a:bodyPr>
          <a:lstStyle/>
          <a:p>
            <a:pPr algn="just"/>
            <a:r>
              <a:rPr lang="es-ES" b="1" dirty="0"/>
              <a:t>Gestión profesional → precios más estables</a:t>
            </a:r>
            <a:r>
              <a:rPr lang="es-ES" dirty="0"/>
              <a:t> </a:t>
            </a:r>
          </a:p>
          <a:p>
            <a:pPr algn="just"/>
            <a:r>
              <a:rPr lang="es-ES" dirty="0"/>
              <a:t>En esta zona predominan empresas y gestores profesionales. Su estrategia es mantener precios consistentes para asegurar ocupación.</a:t>
            </a:r>
          </a:p>
        </p:txBody>
      </p:sp>
      <p:sp>
        <p:nvSpPr>
          <p:cNvPr id="10" name="CuadroTexto 9">
            <a:extLst>
              <a:ext uri="{FF2B5EF4-FFF2-40B4-BE49-F238E27FC236}">
                <a16:creationId xmlns:a16="http://schemas.microsoft.com/office/drawing/2014/main" id="{03FBD882-CCF8-A499-594C-C49C15F41A7A}"/>
              </a:ext>
            </a:extLst>
          </p:cNvPr>
          <p:cNvSpPr txBox="1"/>
          <p:nvPr/>
        </p:nvSpPr>
        <p:spPr>
          <a:xfrm>
            <a:off x="939535" y="3489640"/>
            <a:ext cx="5008778" cy="1477328"/>
          </a:xfrm>
          <a:prstGeom prst="rect">
            <a:avLst/>
          </a:prstGeom>
          <a:noFill/>
        </p:spPr>
        <p:txBody>
          <a:bodyPr wrap="square">
            <a:spAutoFit/>
          </a:bodyPr>
          <a:lstStyle/>
          <a:p>
            <a:pPr algn="just"/>
            <a:r>
              <a:rPr lang="es-ES" b="1" dirty="0"/>
              <a:t>Los barrios más caros tienen menos alojamientos y viviendas más amplias</a:t>
            </a:r>
            <a:r>
              <a:rPr lang="es-ES" dirty="0"/>
              <a:t> </a:t>
            </a:r>
          </a:p>
          <a:p>
            <a:pPr algn="just"/>
            <a:r>
              <a:rPr lang="es-ES" dirty="0"/>
              <a:t>En estas zonas predominan casas completas y alojamientos de mayor tamaño, lo que eleva el precio típico del barrio.</a:t>
            </a:r>
          </a:p>
        </p:txBody>
      </p:sp>
      <p:sp>
        <p:nvSpPr>
          <p:cNvPr id="14" name="CuadroTexto 13">
            <a:extLst>
              <a:ext uri="{FF2B5EF4-FFF2-40B4-BE49-F238E27FC236}">
                <a16:creationId xmlns:a16="http://schemas.microsoft.com/office/drawing/2014/main" id="{C6EAD675-5086-D86A-653B-F1A00A81E36D}"/>
              </a:ext>
            </a:extLst>
          </p:cNvPr>
          <p:cNvSpPr txBox="1"/>
          <p:nvPr/>
        </p:nvSpPr>
        <p:spPr>
          <a:xfrm>
            <a:off x="939535" y="5152583"/>
            <a:ext cx="5156465" cy="1477328"/>
          </a:xfrm>
          <a:prstGeom prst="rect">
            <a:avLst/>
          </a:prstGeom>
          <a:noFill/>
        </p:spPr>
        <p:txBody>
          <a:bodyPr wrap="square">
            <a:spAutoFit/>
          </a:bodyPr>
          <a:lstStyle/>
          <a:p>
            <a:pPr algn="just"/>
            <a:r>
              <a:rPr lang="es-ES" b="1" dirty="0"/>
              <a:t>Las viviendas de lujo influyen más fuera del Centro</a:t>
            </a:r>
            <a:r>
              <a:rPr lang="es-ES" dirty="0"/>
              <a:t> </a:t>
            </a:r>
          </a:p>
          <a:p>
            <a:pPr algn="just"/>
            <a:r>
              <a:rPr lang="es-ES" dirty="0"/>
              <a:t>En barrios (dónde la cantidad de alojamientos es menor), una sola villa puede subir el precio típico de la zona. En el Centro, el volumen de oferta evita este efecto.</a:t>
            </a:r>
          </a:p>
        </p:txBody>
      </p:sp>
      <p:sp>
        <p:nvSpPr>
          <p:cNvPr id="18" name="CuadroTexto 17">
            <a:extLst>
              <a:ext uri="{FF2B5EF4-FFF2-40B4-BE49-F238E27FC236}">
                <a16:creationId xmlns:a16="http://schemas.microsoft.com/office/drawing/2014/main" id="{6B62E31E-F82E-B9D1-976D-E2948312748F}"/>
              </a:ext>
            </a:extLst>
          </p:cNvPr>
          <p:cNvSpPr txBox="1"/>
          <p:nvPr/>
        </p:nvSpPr>
        <p:spPr>
          <a:xfrm>
            <a:off x="7033963" y="1624585"/>
            <a:ext cx="4626994" cy="2462213"/>
          </a:xfrm>
          <a:prstGeom prst="rect">
            <a:avLst/>
          </a:prstGeom>
          <a:noFill/>
        </p:spPr>
        <p:txBody>
          <a:bodyPr wrap="square">
            <a:spAutoFit/>
          </a:bodyPr>
          <a:lstStyle/>
          <a:p>
            <a:r>
              <a:rPr lang="es-ES" b="1" dirty="0"/>
              <a:t>                        </a:t>
            </a:r>
            <a:r>
              <a:rPr lang="es-ES" sz="2800" b="1" dirty="0"/>
              <a:t>CONCLUSIÓN</a:t>
            </a:r>
          </a:p>
          <a:p>
            <a:endParaRPr lang="es-ES" b="1" dirty="0"/>
          </a:p>
          <a:p>
            <a:endParaRPr lang="es-ES" b="1" dirty="0"/>
          </a:p>
          <a:p>
            <a:pPr algn="just"/>
            <a:r>
              <a:rPr lang="es-ES" b="1" dirty="0"/>
              <a:t>El Centro no es la zona más cara porque su mercado es amplio, competitivo y profesionalizado.</a:t>
            </a:r>
            <a:r>
              <a:rPr lang="es-ES" dirty="0"/>
              <a:t> </a:t>
            </a:r>
            <a:r>
              <a:rPr lang="es-ES" b="1" dirty="0"/>
              <a:t>Los barrios con menos oferta y alojamientos más grandes presentan precios más altos.</a:t>
            </a:r>
            <a:endParaRPr lang="es-ES" dirty="0"/>
          </a:p>
        </p:txBody>
      </p:sp>
      <p:sp>
        <p:nvSpPr>
          <p:cNvPr id="20" name="CuadroTexto 19">
            <a:extLst>
              <a:ext uri="{FF2B5EF4-FFF2-40B4-BE49-F238E27FC236}">
                <a16:creationId xmlns:a16="http://schemas.microsoft.com/office/drawing/2014/main" id="{9ED7BE66-6EAE-91FC-42B0-6DB0BD480DAD}"/>
              </a:ext>
            </a:extLst>
          </p:cNvPr>
          <p:cNvSpPr txBox="1"/>
          <p:nvPr/>
        </p:nvSpPr>
        <p:spPr>
          <a:xfrm>
            <a:off x="2359059" y="285916"/>
            <a:ext cx="7331696" cy="523220"/>
          </a:xfrm>
          <a:prstGeom prst="rect">
            <a:avLst/>
          </a:prstGeom>
          <a:noFill/>
        </p:spPr>
        <p:txBody>
          <a:bodyPr wrap="square">
            <a:spAutoFit/>
          </a:bodyPr>
          <a:lstStyle/>
          <a:p>
            <a:pPr algn="just"/>
            <a:r>
              <a:rPr lang="es-ES" sz="2800" b="1" dirty="0"/>
              <a:t>¿Por qué el Centro NO es la zona más cara?</a:t>
            </a:r>
          </a:p>
        </p:txBody>
      </p:sp>
    </p:spTree>
    <p:extLst>
      <p:ext uri="{BB962C8B-B14F-4D97-AF65-F5344CB8AC3E}">
        <p14:creationId xmlns:p14="http://schemas.microsoft.com/office/powerpoint/2010/main" val="1610509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936035C-0FE7-E96A-D088-31DAB0139960}"/>
              </a:ext>
            </a:extLst>
          </p:cNvPr>
          <p:cNvSpPr txBox="1">
            <a:spLocks/>
          </p:cNvSpPr>
          <p:nvPr/>
        </p:nvSpPr>
        <p:spPr>
          <a:xfrm>
            <a:off x="838200" y="556179"/>
            <a:ext cx="10515600" cy="126319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2900" b="1" dirty="0">
                <a:latin typeface="+mn-lt"/>
                <a:ea typeface="+mn-ea"/>
                <a:cs typeface="+mn-cs"/>
              </a:rPr>
              <a:t>HIPÓTESIS 2</a:t>
            </a:r>
            <a:r>
              <a:rPr lang="es-ES" sz="2900" b="1" dirty="0" smtClean="0">
                <a:latin typeface="+mn-lt"/>
                <a:ea typeface="+mn-ea"/>
                <a:cs typeface="+mn-cs"/>
              </a:rPr>
              <a:t>: </a:t>
            </a:r>
            <a:r>
              <a:rPr lang="es-ES" sz="2900" b="1" i="1" dirty="0" smtClean="0">
                <a:latin typeface="+mn-lt"/>
                <a:ea typeface="+mn-ea"/>
                <a:cs typeface="+mn-cs"/>
              </a:rPr>
              <a:t>“El precio de los alojamientos con pocas reseñas es más alto que el de los que tienen muchas”.</a:t>
            </a:r>
            <a:endParaRPr lang="es-ES" sz="2900" b="1" i="1" dirty="0">
              <a:latin typeface="+mn-lt"/>
              <a:ea typeface="+mn-ea"/>
              <a:cs typeface="+mn-cs"/>
            </a:endParaRPr>
          </a:p>
        </p:txBody>
      </p:sp>
      <p:sp>
        <p:nvSpPr>
          <p:cNvPr id="5" name="CuadroTexto 4">
            <a:extLst>
              <a:ext uri="{FF2B5EF4-FFF2-40B4-BE49-F238E27FC236}">
                <a16:creationId xmlns:a16="http://schemas.microsoft.com/office/drawing/2014/main" id="{7A22F31A-81B8-7E5F-E0A6-C252F3095B74}"/>
              </a:ext>
            </a:extLst>
          </p:cNvPr>
          <p:cNvSpPr txBox="1"/>
          <p:nvPr/>
        </p:nvSpPr>
        <p:spPr>
          <a:xfrm>
            <a:off x="838199" y="1605559"/>
            <a:ext cx="10046615" cy="1631216"/>
          </a:xfrm>
          <a:prstGeom prst="rect">
            <a:avLst/>
          </a:prstGeom>
          <a:noFill/>
        </p:spPr>
        <p:txBody>
          <a:bodyPr wrap="square">
            <a:spAutoFit/>
          </a:bodyPr>
          <a:lstStyle/>
          <a:p>
            <a:pPr algn="just">
              <a:buNone/>
            </a:pPr>
            <a:r>
              <a:rPr lang="es-ES" sz="2800" b="1" dirty="0"/>
              <a:t>PLANTEAMIENTO</a:t>
            </a:r>
          </a:p>
          <a:p>
            <a:pPr algn="just">
              <a:buNone/>
            </a:pPr>
            <a:endParaRPr lang="es-ES" b="1" dirty="0"/>
          </a:p>
          <a:p>
            <a:pPr marL="285750" indent="-285750" algn="just">
              <a:buFont typeface="Wingdings" panose="05000000000000000000" pitchFamily="2" charset="2"/>
              <a:buChar char="q"/>
            </a:pPr>
            <a:r>
              <a:rPr lang="es-ES" b="1" dirty="0">
                <a:effectLst/>
              </a:rPr>
              <a:t>Hipótesis inicial:</a:t>
            </a:r>
            <a:r>
              <a:rPr lang="es-ES" dirty="0">
                <a:effectLst/>
              </a:rPr>
              <a:t> </a:t>
            </a:r>
            <a:r>
              <a:rPr lang="es-ES" dirty="0" smtClean="0">
                <a:effectLst/>
              </a:rPr>
              <a:t>A mayor número de reseñas mayor demanda, lo que puede ser un indicador de mayor competitividad </a:t>
            </a:r>
            <a:r>
              <a:rPr lang="es-ES" smtClean="0">
                <a:effectLst/>
              </a:rPr>
              <a:t>de precios. </a:t>
            </a:r>
            <a:endParaRPr lang="es-ES" dirty="0">
              <a:effectLst/>
            </a:endParaRPr>
          </a:p>
          <a:p>
            <a:pPr algn="just"/>
            <a:endParaRPr lang="es-ES" dirty="0"/>
          </a:p>
        </p:txBody>
      </p:sp>
      <p:sp>
        <p:nvSpPr>
          <p:cNvPr id="2" name="Rectángulo 1"/>
          <p:cNvSpPr/>
          <p:nvPr/>
        </p:nvSpPr>
        <p:spPr>
          <a:xfrm>
            <a:off x="838198" y="3002095"/>
            <a:ext cx="1582661" cy="523220"/>
          </a:xfrm>
          <a:prstGeom prst="rect">
            <a:avLst/>
          </a:prstGeom>
        </p:spPr>
        <p:txBody>
          <a:bodyPr wrap="square">
            <a:spAutoFit/>
          </a:bodyPr>
          <a:lstStyle/>
          <a:p>
            <a:pPr algn="ctr">
              <a:buNone/>
            </a:pPr>
            <a:r>
              <a:rPr lang="es-ES" sz="2800" b="1" dirty="0"/>
              <a:t>ANÁLISIS</a:t>
            </a:r>
          </a:p>
        </p:txBody>
      </p:sp>
      <p:sp>
        <p:nvSpPr>
          <p:cNvPr id="3" name="Rectángulo 2"/>
          <p:cNvSpPr/>
          <p:nvPr/>
        </p:nvSpPr>
        <p:spPr>
          <a:xfrm>
            <a:off x="838198" y="3559940"/>
            <a:ext cx="10046615" cy="369332"/>
          </a:xfrm>
          <a:prstGeom prst="rect">
            <a:avLst/>
          </a:prstGeom>
        </p:spPr>
        <p:txBody>
          <a:bodyPr wrap="square">
            <a:spAutoFit/>
          </a:bodyPr>
          <a:lstStyle/>
          <a:p>
            <a:r>
              <a:rPr lang="es-ES" dirty="0"/>
              <a:t>Volumen alto de reseñas          </a:t>
            </a:r>
            <a:r>
              <a:rPr lang="es-ES" dirty="0">
                <a:sym typeface="Wingdings" panose="05000000000000000000" pitchFamily="2" charset="2"/>
              </a:rPr>
              <a:t>        alta demanda                   ----------------------                 ¿causas? </a:t>
            </a:r>
            <a:endParaRPr lang="es-ES" dirty="0"/>
          </a:p>
        </p:txBody>
      </p:sp>
      <p:cxnSp>
        <p:nvCxnSpPr>
          <p:cNvPr id="6" name="Conector recto de flecha 5"/>
          <p:cNvCxnSpPr/>
          <p:nvPr/>
        </p:nvCxnSpPr>
        <p:spPr>
          <a:xfrm>
            <a:off x="9535882" y="3963897"/>
            <a:ext cx="2" cy="5740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CuadroTexto 8"/>
          <p:cNvSpPr txBox="1"/>
          <p:nvPr/>
        </p:nvSpPr>
        <p:spPr>
          <a:xfrm>
            <a:off x="8507972" y="4572570"/>
            <a:ext cx="2055819" cy="1477328"/>
          </a:xfrm>
          <a:prstGeom prst="rect">
            <a:avLst/>
          </a:prstGeom>
          <a:noFill/>
        </p:spPr>
        <p:txBody>
          <a:bodyPr wrap="none" rtlCol="0">
            <a:spAutoFit/>
          </a:bodyPr>
          <a:lstStyle/>
          <a:p>
            <a:pPr algn="ctr"/>
            <a:r>
              <a:rPr lang="es-ES" b="1" dirty="0" smtClean="0"/>
              <a:t>PRECIO</a:t>
            </a:r>
          </a:p>
          <a:p>
            <a:pPr algn="ctr"/>
            <a:r>
              <a:rPr lang="es-ES" dirty="0" smtClean="0"/>
              <a:t>Ubicación</a:t>
            </a:r>
          </a:p>
          <a:p>
            <a:pPr algn="ctr"/>
            <a:r>
              <a:rPr lang="es-ES" dirty="0" smtClean="0"/>
              <a:t>Disponibilidad</a:t>
            </a:r>
          </a:p>
          <a:p>
            <a:pPr algn="ctr"/>
            <a:r>
              <a:rPr lang="es-ES" dirty="0" smtClean="0"/>
              <a:t>Tipo de alojamiento</a:t>
            </a:r>
          </a:p>
          <a:p>
            <a:pPr algn="ctr"/>
            <a:r>
              <a:rPr lang="es-ES" dirty="0" smtClean="0"/>
              <a:t>Reseñas positivas</a:t>
            </a:r>
            <a:endParaRPr lang="es-ES" dirty="0"/>
          </a:p>
        </p:txBody>
      </p:sp>
    </p:spTree>
    <p:extLst>
      <p:ext uri="{BB962C8B-B14F-4D97-AF65-F5344CB8AC3E}">
        <p14:creationId xmlns:p14="http://schemas.microsoft.com/office/powerpoint/2010/main" val="16115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p:nvPr/>
        </p:nvPicPr>
        <p:blipFill>
          <a:blip r:embed="rId2"/>
          <a:stretch>
            <a:fillRect/>
          </a:stretch>
        </p:blipFill>
        <p:spPr>
          <a:xfrm>
            <a:off x="422166" y="820028"/>
            <a:ext cx="5945977" cy="3284217"/>
          </a:xfrm>
          <a:prstGeom prst="rect">
            <a:avLst/>
          </a:prstGeom>
        </p:spPr>
      </p:pic>
      <p:pic>
        <p:nvPicPr>
          <p:cNvPr id="5" name="Imagen 4"/>
          <p:cNvPicPr/>
          <p:nvPr/>
        </p:nvPicPr>
        <p:blipFill>
          <a:blip r:embed="rId3"/>
          <a:stretch>
            <a:fillRect/>
          </a:stretch>
        </p:blipFill>
        <p:spPr>
          <a:xfrm>
            <a:off x="7682805" y="3646391"/>
            <a:ext cx="3668686" cy="1156517"/>
          </a:xfrm>
          <a:prstGeom prst="rect">
            <a:avLst/>
          </a:prstGeom>
        </p:spPr>
      </p:pic>
      <p:cxnSp>
        <p:nvCxnSpPr>
          <p:cNvPr id="6" name="Conector angular 5"/>
          <p:cNvCxnSpPr/>
          <p:nvPr/>
        </p:nvCxnSpPr>
        <p:spPr>
          <a:xfrm>
            <a:off x="6375680" y="3531091"/>
            <a:ext cx="1299588" cy="656281"/>
          </a:xfrm>
          <a:prstGeom prst="bentConnector3">
            <a:avLst/>
          </a:prstGeom>
          <a:ln>
            <a:tailEnd type="triangle"/>
          </a:ln>
        </p:spPr>
        <p:style>
          <a:lnRef idx="3">
            <a:schemeClr val="dk1"/>
          </a:lnRef>
          <a:fillRef idx="0">
            <a:schemeClr val="dk1"/>
          </a:fillRef>
          <a:effectRef idx="2">
            <a:schemeClr val="dk1"/>
          </a:effectRef>
          <a:fontRef idx="minor">
            <a:schemeClr val="tx1"/>
          </a:fontRef>
        </p:style>
      </p:cxnSp>
      <p:sp>
        <p:nvSpPr>
          <p:cNvPr id="8" name="CuadroTexto 7"/>
          <p:cNvSpPr txBox="1"/>
          <p:nvPr/>
        </p:nvSpPr>
        <p:spPr>
          <a:xfrm>
            <a:off x="6807200" y="1097118"/>
            <a:ext cx="4544291" cy="1477328"/>
          </a:xfrm>
          <a:prstGeom prst="rect">
            <a:avLst/>
          </a:prstGeom>
          <a:noFill/>
        </p:spPr>
        <p:txBody>
          <a:bodyPr wrap="square" rtlCol="0">
            <a:spAutoFit/>
          </a:bodyPr>
          <a:lstStyle/>
          <a:p>
            <a:pPr algn="just"/>
            <a:r>
              <a:rPr lang="es-ES" dirty="0" smtClean="0"/>
              <a:t>Empezamos clasificando los alojamientos según el volumen de reseñas que reciben en alojamientos en tres categorías:  “Muchas”(+50), “Medias”(10-50) o “Pocas”(0-10) valoraciones.</a:t>
            </a:r>
            <a:endParaRPr lang="es-ES" dirty="0"/>
          </a:p>
        </p:txBody>
      </p:sp>
      <p:sp>
        <p:nvSpPr>
          <p:cNvPr id="9" name="CuadroTexto 8"/>
          <p:cNvSpPr txBox="1"/>
          <p:nvPr/>
        </p:nvSpPr>
        <p:spPr>
          <a:xfrm>
            <a:off x="422166" y="4488200"/>
            <a:ext cx="5945977" cy="923330"/>
          </a:xfrm>
          <a:prstGeom prst="rect">
            <a:avLst/>
          </a:prstGeom>
          <a:noFill/>
        </p:spPr>
        <p:txBody>
          <a:bodyPr wrap="square" rtlCol="0">
            <a:spAutoFit/>
          </a:bodyPr>
          <a:lstStyle/>
          <a:p>
            <a:pPr algn="just"/>
            <a:r>
              <a:rPr lang="es-ES" dirty="0" smtClean="0"/>
              <a:t>Así, disponemos de 2 variables a relacionar: precio y ‘ocupación’. Utilizaremos el </a:t>
            </a:r>
            <a:r>
              <a:rPr lang="es-ES" b="1" dirty="0" smtClean="0"/>
              <a:t>coeficiente de correlación de Pearson.</a:t>
            </a:r>
            <a:endParaRPr lang="es-ES" b="1" dirty="0"/>
          </a:p>
        </p:txBody>
      </p:sp>
    </p:spTree>
    <p:extLst>
      <p:ext uri="{BB962C8B-B14F-4D97-AF65-F5344CB8AC3E}">
        <p14:creationId xmlns:p14="http://schemas.microsoft.com/office/powerpoint/2010/main" val="245254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505466" y="489138"/>
            <a:ext cx="5604141" cy="3097025"/>
          </a:xfrm>
          <a:prstGeom prst="rect">
            <a:avLst/>
          </a:prstGeom>
        </p:spPr>
      </p:pic>
      <p:pic>
        <p:nvPicPr>
          <p:cNvPr id="5" name="Imagen 4"/>
          <p:cNvPicPr/>
          <p:nvPr/>
        </p:nvPicPr>
        <p:blipFill>
          <a:blip r:embed="rId3"/>
          <a:stretch>
            <a:fillRect/>
          </a:stretch>
        </p:blipFill>
        <p:spPr>
          <a:xfrm>
            <a:off x="6109607" y="1585710"/>
            <a:ext cx="5833011" cy="4630362"/>
          </a:xfrm>
          <a:prstGeom prst="rect">
            <a:avLst/>
          </a:prstGeom>
        </p:spPr>
      </p:pic>
      <p:sp>
        <p:nvSpPr>
          <p:cNvPr id="6" name="CuadroTexto 5"/>
          <p:cNvSpPr txBox="1"/>
          <p:nvPr/>
        </p:nvSpPr>
        <p:spPr>
          <a:xfrm>
            <a:off x="6109607" y="489138"/>
            <a:ext cx="4871206" cy="923330"/>
          </a:xfrm>
          <a:prstGeom prst="rect">
            <a:avLst/>
          </a:prstGeom>
          <a:noFill/>
        </p:spPr>
        <p:txBody>
          <a:bodyPr wrap="square" rtlCol="0">
            <a:spAutoFit/>
          </a:bodyPr>
          <a:lstStyle/>
          <a:p>
            <a:r>
              <a:rPr lang="es-ES" dirty="0" smtClean="0"/>
              <a:t>No existe relación lineal significativa a priori entre precio y cantidad de reseñas, lo que nos hace utilizar métricas más ‘directas’ como la </a:t>
            </a:r>
            <a:r>
              <a:rPr lang="es-ES" b="1" dirty="0" smtClean="0"/>
              <a:t>mediana</a:t>
            </a:r>
            <a:r>
              <a:rPr lang="es-ES" dirty="0" smtClean="0"/>
              <a:t>.</a:t>
            </a:r>
            <a:endParaRPr lang="es-ES" dirty="0"/>
          </a:p>
        </p:txBody>
      </p:sp>
      <p:sp>
        <p:nvSpPr>
          <p:cNvPr id="7" name="CuadroTexto 6"/>
          <p:cNvSpPr txBox="1"/>
          <p:nvPr/>
        </p:nvSpPr>
        <p:spPr>
          <a:xfrm>
            <a:off x="905164" y="3900890"/>
            <a:ext cx="5070763" cy="2308324"/>
          </a:xfrm>
          <a:prstGeom prst="rect">
            <a:avLst/>
          </a:prstGeom>
          <a:noFill/>
        </p:spPr>
        <p:txBody>
          <a:bodyPr wrap="square" rtlCol="0">
            <a:spAutoFit/>
          </a:bodyPr>
          <a:lstStyle/>
          <a:p>
            <a:pPr marL="285750" indent="-285750">
              <a:buFontTx/>
              <a:buChar char="-"/>
            </a:pPr>
            <a:r>
              <a:rPr lang="es-ES" dirty="0" smtClean="0"/>
              <a:t>Destacamos el </a:t>
            </a:r>
            <a:r>
              <a:rPr lang="es-ES" b="1" dirty="0" smtClean="0"/>
              <a:t>precio medio</a:t>
            </a:r>
            <a:r>
              <a:rPr lang="es-ES" dirty="0" smtClean="0"/>
              <a:t> inclinado hacia “pocas reseñas”.</a:t>
            </a:r>
          </a:p>
          <a:p>
            <a:pPr marL="285750" indent="-285750">
              <a:buFontTx/>
              <a:buChar char="-"/>
            </a:pPr>
            <a:r>
              <a:rPr lang="es-ES" dirty="0" smtClean="0"/>
              <a:t>Utilizando </a:t>
            </a:r>
            <a:r>
              <a:rPr lang="es-ES" b="1" dirty="0" smtClean="0"/>
              <a:t>media</a:t>
            </a:r>
            <a:r>
              <a:rPr lang="es-ES" dirty="0" smtClean="0"/>
              <a:t> o </a:t>
            </a:r>
            <a:r>
              <a:rPr lang="es-ES" b="1" dirty="0" smtClean="0"/>
              <a:t>mediana</a:t>
            </a:r>
            <a:r>
              <a:rPr lang="es-ES" dirty="0" smtClean="0"/>
              <a:t> se ratifica la hipótesis, aunque la mediana es más fiable en este determinado caso.</a:t>
            </a:r>
          </a:p>
          <a:p>
            <a:pPr marL="285750" indent="-285750">
              <a:buFontTx/>
              <a:buChar char="-"/>
            </a:pPr>
            <a:r>
              <a:rPr lang="es-ES" dirty="0" smtClean="0"/>
              <a:t>Necesidad de cruzar nuestras variables principales (precio y volumen de reseñas) con </a:t>
            </a:r>
            <a:r>
              <a:rPr lang="es-ES" b="1" dirty="0" smtClean="0"/>
              <a:t>otras variables </a:t>
            </a:r>
            <a:r>
              <a:rPr lang="es-ES" dirty="0" smtClean="0"/>
              <a:t>que puedan variar el resultado.</a:t>
            </a:r>
            <a:endParaRPr lang="es-ES" dirty="0"/>
          </a:p>
        </p:txBody>
      </p:sp>
    </p:spTree>
    <p:extLst>
      <p:ext uri="{BB962C8B-B14F-4D97-AF65-F5344CB8AC3E}">
        <p14:creationId xmlns:p14="http://schemas.microsoft.com/office/powerpoint/2010/main" val="2030561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p:nvPr/>
        </p:nvPicPr>
        <p:blipFill>
          <a:blip r:embed="rId2"/>
          <a:stretch>
            <a:fillRect/>
          </a:stretch>
        </p:blipFill>
        <p:spPr>
          <a:xfrm>
            <a:off x="790892" y="934527"/>
            <a:ext cx="4959321" cy="3147724"/>
          </a:xfrm>
          <a:prstGeom prst="rect">
            <a:avLst/>
          </a:prstGeom>
        </p:spPr>
      </p:pic>
      <p:sp>
        <p:nvSpPr>
          <p:cNvPr id="7" name="CuadroTexto 6"/>
          <p:cNvSpPr txBox="1"/>
          <p:nvPr/>
        </p:nvSpPr>
        <p:spPr>
          <a:xfrm>
            <a:off x="790892" y="4129338"/>
            <a:ext cx="4959321" cy="923330"/>
          </a:xfrm>
          <a:prstGeom prst="rect">
            <a:avLst/>
          </a:prstGeom>
          <a:noFill/>
        </p:spPr>
        <p:txBody>
          <a:bodyPr wrap="square" rtlCol="0">
            <a:spAutoFit/>
          </a:bodyPr>
          <a:lstStyle/>
          <a:p>
            <a:pPr algn="just"/>
            <a:r>
              <a:rPr lang="es-ES" dirty="0" smtClean="0"/>
              <a:t>Por </a:t>
            </a:r>
            <a:r>
              <a:rPr lang="es-ES" b="1" dirty="0" smtClean="0"/>
              <a:t>tipo de habitación </a:t>
            </a:r>
            <a:r>
              <a:rPr lang="es-ES" dirty="0" smtClean="0"/>
              <a:t>se ratifica en alojamientos enteros y habitaciones privadas, en habitaciones compartidas es al contrario.</a:t>
            </a:r>
            <a:endParaRPr lang="es-ES" dirty="0"/>
          </a:p>
        </p:txBody>
      </p:sp>
      <p:sp>
        <p:nvSpPr>
          <p:cNvPr id="8" name="CuadroTexto 7"/>
          <p:cNvSpPr txBox="1"/>
          <p:nvPr/>
        </p:nvSpPr>
        <p:spPr>
          <a:xfrm>
            <a:off x="790892" y="5328354"/>
            <a:ext cx="11013178" cy="923330"/>
          </a:xfrm>
          <a:prstGeom prst="rect">
            <a:avLst/>
          </a:prstGeom>
          <a:noFill/>
        </p:spPr>
        <p:txBody>
          <a:bodyPr wrap="square" rtlCol="0">
            <a:spAutoFit/>
          </a:bodyPr>
          <a:lstStyle/>
          <a:p>
            <a:r>
              <a:rPr lang="es-ES" b="1" dirty="0" smtClean="0"/>
              <a:t>CONCLUSIÓN: </a:t>
            </a:r>
            <a:r>
              <a:rPr lang="es-ES" dirty="0" smtClean="0"/>
              <a:t>La hipótesis es </a:t>
            </a:r>
            <a:r>
              <a:rPr lang="es-ES" b="1" u="sng" dirty="0" smtClean="0"/>
              <a:t>correcta</a:t>
            </a:r>
            <a:r>
              <a:rPr lang="es-ES" dirty="0" smtClean="0"/>
              <a:t>, pero </a:t>
            </a:r>
            <a:r>
              <a:rPr lang="es-ES" b="1" u="sng" dirty="0" smtClean="0"/>
              <a:t>con matices</a:t>
            </a:r>
            <a:r>
              <a:rPr lang="es-ES" dirty="0" smtClean="0"/>
              <a:t>. El número de reseñas no puede analizarse de forma aislada; su impacto está condicionado por otros factores, como el tipo de propiedad y la profesionalidad del anfitrión.</a:t>
            </a:r>
            <a:endParaRPr lang="es-ES" b="1" dirty="0"/>
          </a:p>
        </p:txBody>
      </p:sp>
      <p:pic>
        <p:nvPicPr>
          <p:cNvPr id="9" name="Imagen 8"/>
          <p:cNvPicPr>
            <a:picLocks noChangeAspect="1"/>
          </p:cNvPicPr>
          <p:nvPr/>
        </p:nvPicPr>
        <p:blipFill>
          <a:blip r:embed="rId3"/>
          <a:stretch>
            <a:fillRect/>
          </a:stretch>
        </p:blipFill>
        <p:spPr>
          <a:xfrm>
            <a:off x="6023119" y="930051"/>
            <a:ext cx="5780951" cy="3152200"/>
          </a:xfrm>
          <a:prstGeom prst="rect">
            <a:avLst/>
          </a:prstGeom>
        </p:spPr>
      </p:pic>
      <p:sp>
        <p:nvSpPr>
          <p:cNvPr id="10" name="CuadroTexto 9"/>
          <p:cNvSpPr txBox="1"/>
          <p:nvPr/>
        </p:nvSpPr>
        <p:spPr>
          <a:xfrm>
            <a:off x="6433933" y="4082251"/>
            <a:ext cx="4959321" cy="923330"/>
          </a:xfrm>
          <a:prstGeom prst="rect">
            <a:avLst/>
          </a:prstGeom>
          <a:noFill/>
        </p:spPr>
        <p:txBody>
          <a:bodyPr wrap="square" rtlCol="0">
            <a:spAutoFit/>
          </a:bodyPr>
          <a:lstStyle/>
          <a:p>
            <a:pPr algn="just"/>
            <a:r>
              <a:rPr lang="es-ES" dirty="0" smtClean="0"/>
              <a:t>Por </a:t>
            </a:r>
            <a:r>
              <a:rPr lang="es-ES" b="1" dirty="0" smtClean="0"/>
              <a:t>tipo de host: </a:t>
            </a:r>
            <a:r>
              <a:rPr lang="es-ES" dirty="0" smtClean="0"/>
              <a:t>los picos de precio altos provienen de particulares. Quitando excepciones, la hipótesis se sigue confirmando.</a:t>
            </a:r>
            <a:endParaRPr lang="es-ES" dirty="0"/>
          </a:p>
        </p:txBody>
      </p:sp>
    </p:spTree>
    <p:extLst>
      <p:ext uri="{BB962C8B-B14F-4D97-AF65-F5344CB8AC3E}">
        <p14:creationId xmlns:p14="http://schemas.microsoft.com/office/powerpoint/2010/main" val="1957883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936035C-0FE7-E96A-D088-31DAB0139960}"/>
              </a:ext>
            </a:extLst>
          </p:cNvPr>
          <p:cNvSpPr txBox="1">
            <a:spLocks/>
          </p:cNvSpPr>
          <p:nvPr/>
        </p:nvSpPr>
        <p:spPr>
          <a:xfrm>
            <a:off x="838200" y="556179"/>
            <a:ext cx="10515600" cy="1263194"/>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2900" b="1" dirty="0">
                <a:latin typeface="+mn-lt"/>
                <a:ea typeface="+mn-ea"/>
                <a:cs typeface="+mn-cs"/>
              </a:rPr>
              <a:t>HIPÓTESIS </a:t>
            </a:r>
            <a:r>
              <a:rPr lang="es-ES" sz="2900" b="1" dirty="0" smtClean="0">
                <a:latin typeface="+mn-lt"/>
                <a:ea typeface="+mn-ea"/>
                <a:cs typeface="+mn-cs"/>
              </a:rPr>
              <a:t>3: </a:t>
            </a:r>
            <a:r>
              <a:rPr lang="es-ES" sz="2900" b="1" i="1" dirty="0" smtClean="0">
                <a:latin typeface="+mn-lt"/>
                <a:ea typeface="+mn-ea"/>
                <a:cs typeface="+mn-cs"/>
              </a:rPr>
              <a:t>“La demanda de alojamientos en Málaga presenta un pico de crecimiento superior al 50% durante el tercer trimestre del año, siendo el Distrito Centro el que mantiene una demanda más estable durante el resto del año frente a las otras zonas”.</a:t>
            </a:r>
            <a:endParaRPr lang="es-ES" sz="2900" b="1" i="1" dirty="0">
              <a:latin typeface="+mn-lt"/>
              <a:ea typeface="+mn-ea"/>
              <a:cs typeface="+mn-cs"/>
            </a:endParaRPr>
          </a:p>
        </p:txBody>
      </p:sp>
      <p:sp>
        <p:nvSpPr>
          <p:cNvPr id="5" name="CuadroTexto 4">
            <a:extLst>
              <a:ext uri="{FF2B5EF4-FFF2-40B4-BE49-F238E27FC236}">
                <a16:creationId xmlns:a16="http://schemas.microsoft.com/office/drawing/2014/main" id="{7A22F31A-81B8-7E5F-E0A6-C252F3095B74}"/>
              </a:ext>
            </a:extLst>
          </p:cNvPr>
          <p:cNvSpPr txBox="1"/>
          <p:nvPr/>
        </p:nvSpPr>
        <p:spPr>
          <a:xfrm>
            <a:off x="838200" y="2201061"/>
            <a:ext cx="10046615" cy="1692771"/>
          </a:xfrm>
          <a:prstGeom prst="rect">
            <a:avLst/>
          </a:prstGeom>
          <a:noFill/>
        </p:spPr>
        <p:txBody>
          <a:bodyPr wrap="square">
            <a:spAutoFit/>
          </a:bodyPr>
          <a:lstStyle/>
          <a:p>
            <a:pPr algn="just">
              <a:buNone/>
            </a:pPr>
            <a:r>
              <a:rPr lang="es-ES" sz="3200" b="1" dirty="0"/>
              <a:t>PLANTEAMIENTO</a:t>
            </a:r>
          </a:p>
          <a:p>
            <a:pPr algn="just">
              <a:buNone/>
            </a:pPr>
            <a:endParaRPr lang="es-ES" b="1" dirty="0"/>
          </a:p>
          <a:p>
            <a:pPr algn="just">
              <a:buNone/>
            </a:pPr>
            <a:r>
              <a:rPr lang="es-ES" b="1" dirty="0">
                <a:effectLst/>
              </a:rPr>
              <a:t>Hipótesis inicial:</a:t>
            </a:r>
            <a:r>
              <a:rPr lang="es-ES" dirty="0">
                <a:effectLst/>
              </a:rPr>
              <a:t> </a:t>
            </a:r>
            <a:r>
              <a:rPr lang="es-ES" dirty="0"/>
              <a:t>El turismo en ciudades costeras como Málaga suele sufrir de alta estacionalidad, gracias al turismo de sol y playa en verano. El objetivo es verificar si la demanda realmente se dispara más de un 50% en verano, y si el centro se mantiene estable todo el año.</a:t>
            </a:r>
          </a:p>
        </p:txBody>
      </p:sp>
      <p:sp>
        <p:nvSpPr>
          <p:cNvPr id="2" name="Rectángulo 1"/>
          <p:cNvSpPr/>
          <p:nvPr/>
        </p:nvSpPr>
        <p:spPr>
          <a:xfrm>
            <a:off x="838200" y="4275518"/>
            <a:ext cx="10046614" cy="646331"/>
          </a:xfrm>
          <a:prstGeom prst="rect">
            <a:avLst/>
          </a:prstGeom>
        </p:spPr>
        <p:txBody>
          <a:bodyPr wrap="square">
            <a:spAutoFit/>
          </a:bodyPr>
          <a:lstStyle/>
          <a:p>
            <a:pPr algn="just">
              <a:buNone/>
            </a:pPr>
            <a:r>
              <a:rPr lang="es-ES" dirty="0"/>
              <a:t>Obtenemos 197,476 reseñas con su fecha de </a:t>
            </a:r>
            <a:r>
              <a:rPr lang="es-ES" dirty="0" smtClean="0"/>
              <a:t>escritura y las unimos con los datos que conocemos de cada alojamiento, barrio, precio… </a:t>
            </a:r>
            <a:endParaRPr lang="es-ES" dirty="0"/>
          </a:p>
        </p:txBody>
      </p:sp>
    </p:spTree>
    <p:extLst>
      <p:ext uri="{BB962C8B-B14F-4D97-AF65-F5344CB8AC3E}">
        <p14:creationId xmlns:p14="http://schemas.microsoft.com/office/powerpoint/2010/main" val="226551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838200" y="1544219"/>
            <a:ext cx="5891080" cy="4542256"/>
          </a:xfrm>
          <a:prstGeom prst="rect">
            <a:avLst/>
          </a:prstGeom>
        </p:spPr>
      </p:pic>
      <p:sp>
        <p:nvSpPr>
          <p:cNvPr id="5" name="Flecha derecha 4"/>
          <p:cNvSpPr/>
          <p:nvPr/>
        </p:nvSpPr>
        <p:spPr>
          <a:xfrm>
            <a:off x="6520873" y="1911928"/>
            <a:ext cx="1136072" cy="51723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Flecha derecha 5"/>
          <p:cNvSpPr/>
          <p:nvPr/>
        </p:nvSpPr>
        <p:spPr>
          <a:xfrm>
            <a:off x="6520873" y="3232871"/>
            <a:ext cx="1136072" cy="51723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p:cNvSpPr txBox="1"/>
          <p:nvPr/>
        </p:nvSpPr>
        <p:spPr>
          <a:xfrm>
            <a:off x="6729280" y="4070197"/>
            <a:ext cx="4779565" cy="646331"/>
          </a:xfrm>
          <a:prstGeom prst="rect">
            <a:avLst/>
          </a:prstGeom>
          <a:noFill/>
        </p:spPr>
        <p:txBody>
          <a:bodyPr wrap="square" rtlCol="0">
            <a:spAutoFit/>
          </a:bodyPr>
          <a:lstStyle/>
          <a:p>
            <a:pPr algn="just"/>
            <a:r>
              <a:rPr lang="es-ES" dirty="0" smtClean="0"/>
              <a:t>La </a:t>
            </a:r>
            <a:r>
              <a:rPr lang="es-ES" b="1" u="sng" dirty="0" smtClean="0"/>
              <a:t>primera parte</a:t>
            </a:r>
            <a:r>
              <a:rPr lang="es-ES" b="1" dirty="0" smtClean="0"/>
              <a:t> </a:t>
            </a:r>
            <a:r>
              <a:rPr lang="es-ES" dirty="0" smtClean="0"/>
              <a:t>queda </a:t>
            </a:r>
            <a:r>
              <a:rPr lang="es-ES" b="1" u="sng" dirty="0" smtClean="0"/>
              <a:t>rechazada</a:t>
            </a:r>
            <a:r>
              <a:rPr lang="es-ES" dirty="0" smtClean="0"/>
              <a:t> ya que la  primavera tiene una ocupación similar al verano.</a:t>
            </a:r>
            <a:endParaRPr lang="es-ES" dirty="0"/>
          </a:p>
        </p:txBody>
      </p:sp>
      <p:sp>
        <p:nvSpPr>
          <p:cNvPr id="9" name="CuadroTexto 8"/>
          <p:cNvSpPr txBox="1"/>
          <p:nvPr/>
        </p:nvSpPr>
        <p:spPr>
          <a:xfrm>
            <a:off x="7707512" y="3306823"/>
            <a:ext cx="3646288" cy="369332"/>
          </a:xfrm>
          <a:prstGeom prst="rect">
            <a:avLst/>
          </a:prstGeom>
          <a:noFill/>
        </p:spPr>
        <p:txBody>
          <a:bodyPr wrap="square" rtlCol="0">
            <a:spAutoFit/>
          </a:bodyPr>
          <a:lstStyle/>
          <a:p>
            <a:r>
              <a:rPr lang="es-ES" dirty="0" smtClean="0"/>
              <a:t>Histograma de reparto</a:t>
            </a:r>
            <a:endParaRPr lang="es-ES" dirty="0"/>
          </a:p>
        </p:txBody>
      </p:sp>
      <p:sp>
        <p:nvSpPr>
          <p:cNvPr id="10" name="CuadroTexto 9"/>
          <p:cNvSpPr txBox="1"/>
          <p:nvPr/>
        </p:nvSpPr>
        <p:spPr>
          <a:xfrm>
            <a:off x="7656945" y="1815448"/>
            <a:ext cx="3646288" cy="646331"/>
          </a:xfrm>
          <a:prstGeom prst="rect">
            <a:avLst/>
          </a:prstGeom>
          <a:noFill/>
        </p:spPr>
        <p:txBody>
          <a:bodyPr wrap="square" rtlCol="0">
            <a:spAutoFit/>
          </a:bodyPr>
          <a:lstStyle/>
          <a:p>
            <a:r>
              <a:rPr lang="es-ES" dirty="0" smtClean="0"/>
              <a:t>Reparto numérico de valoraciones por trimestre</a:t>
            </a:r>
            <a:endParaRPr lang="es-ES" dirty="0"/>
          </a:p>
        </p:txBody>
      </p:sp>
      <p:sp>
        <p:nvSpPr>
          <p:cNvPr id="11" name="Título 1"/>
          <p:cNvSpPr>
            <a:spLocks noGrp="1"/>
          </p:cNvSpPr>
          <p:nvPr>
            <p:ph type="title"/>
          </p:nvPr>
        </p:nvSpPr>
        <p:spPr>
          <a:xfrm>
            <a:off x="838200" y="365125"/>
            <a:ext cx="10515600" cy="1325563"/>
          </a:xfrm>
        </p:spPr>
        <p:txBody>
          <a:bodyPr>
            <a:normAutofit/>
          </a:bodyPr>
          <a:lstStyle/>
          <a:p>
            <a:r>
              <a:rPr lang="es-ES" sz="2000" b="1" u="sng" dirty="0" smtClean="0">
                <a:latin typeface="+mn-lt"/>
              </a:rPr>
              <a:t>Primera parte</a:t>
            </a:r>
            <a:r>
              <a:rPr lang="es-ES" sz="2000" dirty="0" smtClean="0">
                <a:latin typeface="+mn-lt"/>
              </a:rPr>
              <a:t>: “¿Sube la demanda más de un 50% en verano?”</a:t>
            </a:r>
            <a:endParaRPr lang="es-ES" sz="2000" dirty="0">
              <a:latin typeface="+mn-lt"/>
            </a:endParaRPr>
          </a:p>
        </p:txBody>
      </p:sp>
    </p:spTree>
    <p:extLst>
      <p:ext uri="{BB962C8B-B14F-4D97-AF65-F5344CB8AC3E}">
        <p14:creationId xmlns:p14="http://schemas.microsoft.com/office/powerpoint/2010/main" val="4168596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838200" y="365125"/>
            <a:ext cx="10515600" cy="1325563"/>
          </a:xfrm>
        </p:spPr>
        <p:txBody>
          <a:bodyPr>
            <a:normAutofit/>
          </a:bodyPr>
          <a:lstStyle/>
          <a:p>
            <a:r>
              <a:rPr lang="es-ES" sz="2000" b="1" u="sng" dirty="0" smtClean="0">
                <a:latin typeface="+mn-lt"/>
              </a:rPr>
              <a:t>Segunda </a:t>
            </a:r>
            <a:r>
              <a:rPr lang="es-ES" sz="2000" b="1" u="sng" dirty="0">
                <a:latin typeface="+mn-lt"/>
              </a:rPr>
              <a:t>parte</a:t>
            </a:r>
            <a:r>
              <a:rPr lang="es-ES" sz="2000" dirty="0" smtClean="0">
                <a:latin typeface="+mn-lt"/>
              </a:rPr>
              <a:t>: “¿La demanda del centro permanece estable durante todo el año?”</a:t>
            </a:r>
            <a:endParaRPr lang="es-ES" sz="2000" dirty="0">
              <a:latin typeface="+mn-lt"/>
            </a:endParaRPr>
          </a:p>
        </p:txBody>
      </p:sp>
      <p:pic>
        <p:nvPicPr>
          <p:cNvPr id="5" name="Imagen 4"/>
          <p:cNvPicPr>
            <a:picLocks noChangeAspect="1"/>
          </p:cNvPicPr>
          <p:nvPr/>
        </p:nvPicPr>
        <p:blipFill>
          <a:blip r:embed="rId2"/>
          <a:stretch>
            <a:fillRect/>
          </a:stretch>
        </p:blipFill>
        <p:spPr>
          <a:xfrm>
            <a:off x="838199" y="1343722"/>
            <a:ext cx="5908589" cy="5021634"/>
          </a:xfrm>
          <a:prstGeom prst="rect">
            <a:avLst/>
          </a:prstGeom>
        </p:spPr>
      </p:pic>
      <p:pic>
        <p:nvPicPr>
          <p:cNvPr id="6" name="Imagen 5"/>
          <p:cNvPicPr/>
          <p:nvPr/>
        </p:nvPicPr>
        <p:blipFill>
          <a:blip r:embed="rId3">
            <a:extLst>
              <a:ext uri="{28A0092B-C50C-407E-A947-70E740481C1C}">
                <a14:useLocalDpi xmlns:a14="http://schemas.microsoft.com/office/drawing/2010/main" val="0"/>
              </a:ext>
            </a:extLst>
          </a:blip>
          <a:stretch>
            <a:fillRect/>
          </a:stretch>
        </p:blipFill>
        <p:spPr>
          <a:xfrm>
            <a:off x="3718601" y="1551901"/>
            <a:ext cx="3028187" cy="1800899"/>
          </a:xfrm>
          <a:prstGeom prst="rect">
            <a:avLst/>
          </a:prstGeom>
        </p:spPr>
      </p:pic>
      <p:sp>
        <p:nvSpPr>
          <p:cNvPr id="9" name="CuadroTexto 8"/>
          <p:cNvSpPr txBox="1"/>
          <p:nvPr/>
        </p:nvSpPr>
        <p:spPr>
          <a:xfrm>
            <a:off x="7432153" y="1433008"/>
            <a:ext cx="3466507" cy="1200329"/>
          </a:xfrm>
          <a:prstGeom prst="rect">
            <a:avLst/>
          </a:prstGeom>
          <a:noFill/>
        </p:spPr>
        <p:txBody>
          <a:bodyPr wrap="square" rtlCol="0">
            <a:spAutoFit/>
          </a:bodyPr>
          <a:lstStyle/>
          <a:p>
            <a:pPr algn="just"/>
            <a:r>
              <a:rPr lang="es-ES" dirty="0" smtClean="0"/>
              <a:t>Normalización y tasa de crecimiento/decrecimiento del Distrito Centro (objetivo del estudio)</a:t>
            </a:r>
            <a:endParaRPr lang="es-ES" dirty="0"/>
          </a:p>
        </p:txBody>
      </p:sp>
      <p:sp>
        <p:nvSpPr>
          <p:cNvPr id="10" name="CuadroTexto 9"/>
          <p:cNvSpPr txBox="1"/>
          <p:nvPr/>
        </p:nvSpPr>
        <p:spPr>
          <a:xfrm>
            <a:off x="7432152" y="2633336"/>
            <a:ext cx="3466508" cy="1200329"/>
          </a:xfrm>
          <a:prstGeom prst="rect">
            <a:avLst/>
          </a:prstGeom>
          <a:noFill/>
        </p:spPr>
        <p:txBody>
          <a:bodyPr wrap="square" rtlCol="0">
            <a:spAutoFit/>
          </a:bodyPr>
          <a:lstStyle/>
          <a:p>
            <a:pPr algn="just"/>
            <a:r>
              <a:rPr lang="es-ES" dirty="0" smtClean="0"/>
              <a:t>Hallazgo sorprendente, estacionalidad extrema de Teatinos-Universidad </a:t>
            </a:r>
            <a:r>
              <a:rPr lang="es-ES" dirty="0" smtClean="0">
                <a:sym typeface="Wingdings" panose="05000000000000000000" pitchFamily="2" charset="2"/>
              </a:rPr>
              <a:t> ¿ciclo de liberación de pisos estudiantiles?</a:t>
            </a:r>
            <a:r>
              <a:rPr lang="es-ES" dirty="0" smtClean="0"/>
              <a:t> </a:t>
            </a:r>
            <a:endParaRPr lang="es-ES" dirty="0"/>
          </a:p>
        </p:txBody>
      </p:sp>
      <p:sp>
        <p:nvSpPr>
          <p:cNvPr id="11" name="CuadroTexto 10"/>
          <p:cNvSpPr txBox="1"/>
          <p:nvPr/>
        </p:nvSpPr>
        <p:spPr>
          <a:xfrm>
            <a:off x="7028872" y="4151869"/>
            <a:ext cx="4324927" cy="1507525"/>
          </a:xfrm>
          <a:prstGeom prst="rect">
            <a:avLst/>
          </a:prstGeom>
          <a:noFill/>
        </p:spPr>
        <p:txBody>
          <a:bodyPr wrap="square" rtlCol="0">
            <a:spAutoFit/>
          </a:bodyPr>
          <a:lstStyle/>
          <a:p>
            <a:pPr algn="just"/>
            <a:r>
              <a:rPr lang="es-ES" dirty="0" smtClean="0"/>
              <a:t>La </a:t>
            </a:r>
            <a:r>
              <a:rPr lang="es-ES" b="1" u="sng" dirty="0" smtClean="0"/>
              <a:t>segunda parte </a:t>
            </a:r>
            <a:r>
              <a:rPr lang="es-ES" dirty="0" smtClean="0"/>
              <a:t>queda </a:t>
            </a:r>
            <a:r>
              <a:rPr lang="es-ES" b="1" u="sng" dirty="0" smtClean="0"/>
              <a:t>confirmada</a:t>
            </a:r>
            <a:r>
              <a:rPr lang="es-ES" dirty="0" smtClean="0"/>
              <a:t>: el Distrito Centro es la zona más estable de la ciudad. Su variación en verano es de apenas el -3.88% y presenta un reparto anual equilibrado.</a:t>
            </a:r>
            <a:endParaRPr lang="es-ES" dirty="0"/>
          </a:p>
        </p:txBody>
      </p:sp>
      <p:sp>
        <p:nvSpPr>
          <p:cNvPr id="12" name="Forma libre 11"/>
          <p:cNvSpPr/>
          <p:nvPr/>
        </p:nvSpPr>
        <p:spPr>
          <a:xfrm>
            <a:off x="7028873" y="1514764"/>
            <a:ext cx="277091" cy="249381"/>
          </a:xfrm>
          <a:custGeom>
            <a:avLst/>
            <a:gdLst>
              <a:gd name="connsiteX0" fmla="*/ 0 w 417803"/>
              <a:gd name="connsiteY0" fmla="*/ 120072 h 443639"/>
              <a:gd name="connsiteX1" fmla="*/ 73891 w 417803"/>
              <a:gd name="connsiteY1" fmla="*/ 83127 h 443639"/>
              <a:gd name="connsiteX2" fmla="*/ 147782 w 417803"/>
              <a:gd name="connsiteY2" fmla="*/ 64654 h 443639"/>
              <a:gd name="connsiteX3" fmla="*/ 184727 w 417803"/>
              <a:gd name="connsiteY3" fmla="*/ 46181 h 443639"/>
              <a:gd name="connsiteX4" fmla="*/ 212436 w 417803"/>
              <a:gd name="connsiteY4" fmla="*/ 27709 h 443639"/>
              <a:gd name="connsiteX5" fmla="*/ 240145 w 417803"/>
              <a:gd name="connsiteY5" fmla="*/ 18472 h 443639"/>
              <a:gd name="connsiteX6" fmla="*/ 212436 w 417803"/>
              <a:gd name="connsiteY6" fmla="*/ 36945 h 443639"/>
              <a:gd name="connsiteX7" fmla="*/ 175491 w 417803"/>
              <a:gd name="connsiteY7" fmla="*/ 73891 h 443639"/>
              <a:gd name="connsiteX8" fmla="*/ 55418 w 417803"/>
              <a:gd name="connsiteY8" fmla="*/ 166254 h 443639"/>
              <a:gd name="connsiteX9" fmla="*/ 120072 w 417803"/>
              <a:gd name="connsiteY9" fmla="*/ 120072 h 443639"/>
              <a:gd name="connsiteX10" fmla="*/ 184727 w 417803"/>
              <a:gd name="connsiteY10" fmla="*/ 73891 h 443639"/>
              <a:gd name="connsiteX11" fmla="*/ 212436 w 417803"/>
              <a:gd name="connsiteY11" fmla="*/ 64654 h 443639"/>
              <a:gd name="connsiteX12" fmla="*/ 277091 w 417803"/>
              <a:gd name="connsiteY12" fmla="*/ 36945 h 443639"/>
              <a:gd name="connsiteX13" fmla="*/ 350982 w 417803"/>
              <a:gd name="connsiteY13" fmla="*/ 0 h 443639"/>
              <a:gd name="connsiteX14" fmla="*/ 341745 w 417803"/>
              <a:gd name="connsiteY14" fmla="*/ 27709 h 443639"/>
              <a:gd name="connsiteX15" fmla="*/ 258618 w 417803"/>
              <a:gd name="connsiteY15" fmla="*/ 101600 h 443639"/>
              <a:gd name="connsiteX16" fmla="*/ 101600 w 417803"/>
              <a:gd name="connsiteY16" fmla="*/ 203200 h 443639"/>
              <a:gd name="connsiteX17" fmla="*/ 73891 w 417803"/>
              <a:gd name="connsiteY17" fmla="*/ 221672 h 443639"/>
              <a:gd name="connsiteX18" fmla="*/ 9236 w 417803"/>
              <a:gd name="connsiteY18" fmla="*/ 249381 h 443639"/>
              <a:gd name="connsiteX19" fmla="*/ 36945 w 417803"/>
              <a:gd name="connsiteY19" fmla="*/ 240145 h 443639"/>
              <a:gd name="connsiteX20" fmla="*/ 83127 w 417803"/>
              <a:gd name="connsiteY20" fmla="*/ 221672 h 443639"/>
              <a:gd name="connsiteX21" fmla="*/ 230909 w 417803"/>
              <a:gd name="connsiteY21" fmla="*/ 157018 h 443639"/>
              <a:gd name="connsiteX22" fmla="*/ 332509 w 417803"/>
              <a:gd name="connsiteY22" fmla="*/ 101600 h 443639"/>
              <a:gd name="connsiteX23" fmla="*/ 387927 w 417803"/>
              <a:gd name="connsiteY23" fmla="*/ 55418 h 443639"/>
              <a:gd name="connsiteX24" fmla="*/ 397163 w 417803"/>
              <a:gd name="connsiteY24" fmla="*/ 83127 h 443639"/>
              <a:gd name="connsiteX25" fmla="*/ 341745 w 417803"/>
              <a:gd name="connsiteY25" fmla="*/ 120072 h 443639"/>
              <a:gd name="connsiteX26" fmla="*/ 212436 w 417803"/>
              <a:gd name="connsiteY26" fmla="*/ 230909 h 443639"/>
              <a:gd name="connsiteX27" fmla="*/ 184727 w 417803"/>
              <a:gd name="connsiteY27" fmla="*/ 249381 h 443639"/>
              <a:gd name="connsiteX28" fmla="*/ 249382 w 417803"/>
              <a:gd name="connsiteY28" fmla="*/ 212436 h 443639"/>
              <a:gd name="connsiteX29" fmla="*/ 295563 w 417803"/>
              <a:gd name="connsiteY29" fmla="*/ 193963 h 443639"/>
              <a:gd name="connsiteX30" fmla="*/ 387927 w 417803"/>
              <a:gd name="connsiteY30" fmla="*/ 129309 h 443639"/>
              <a:gd name="connsiteX31" fmla="*/ 369454 w 417803"/>
              <a:gd name="connsiteY31" fmla="*/ 166254 h 443639"/>
              <a:gd name="connsiteX32" fmla="*/ 203200 w 417803"/>
              <a:gd name="connsiteY32" fmla="*/ 258618 h 443639"/>
              <a:gd name="connsiteX33" fmla="*/ 147782 w 417803"/>
              <a:gd name="connsiteY33" fmla="*/ 295563 h 443639"/>
              <a:gd name="connsiteX34" fmla="*/ 120072 w 417803"/>
              <a:gd name="connsiteY34" fmla="*/ 314036 h 443639"/>
              <a:gd name="connsiteX35" fmla="*/ 147782 w 417803"/>
              <a:gd name="connsiteY35" fmla="*/ 304800 h 443639"/>
              <a:gd name="connsiteX36" fmla="*/ 249382 w 417803"/>
              <a:gd name="connsiteY36" fmla="*/ 267854 h 443639"/>
              <a:gd name="connsiteX37" fmla="*/ 267854 w 417803"/>
              <a:gd name="connsiteY37" fmla="*/ 240145 h 443639"/>
              <a:gd name="connsiteX38" fmla="*/ 378691 w 417803"/>
              <a:gd name="connsiteY38" fmla="*/ 203200 h 443639"/>
              <a:gd name="connsiteX39" fmla="*/ 406400 w 417803"/>
              <a:gd name="connsiteY39" fmla="*/ 193963 h 443639"/>
              <a:gd name="connsiteX40" fmla="*/ 397163 w 417803"/>
              <a:gd name="connsiteY40" fmla="*/ 230909 h 443639"/>
              <a:gd name="connsiteX41" fmla="*/ 360218 w 417803"/>
              <a:gd name="connsiteY41" fmla="*/ 258618 h 443639"/>
              <a:gd name="connsiteX42" fmla="*/ 230909 w 417803"/>
              <a:gd name="connsiteY42" fmla="*/ 332509 h 443639"/>
              <a:gd name="connsiteX43" fmla="*/ 203200 w 417803"/>
              <a:gd name="connsiteY43" fmla="*/ 360218 h 443639"/>
              <a:gd name="connsiteX44" fmla="*/ 36945 w 417803"/>
              <a:gd name="connsiteY44" fmla="*/ 443345 h 443639"/>
              <a:gd name="connsiteX45" fmla="*/ 64654 w 417803"/>
              <a:gd name="connsiteY45" fmla="*/ 424872 h 443639"/>
              <a:gd name="connsiteX46" fmla="*/ 157018 w 417803"/>
              <a:gd name="connsiteY46" fmla="*/ 387927 h 443639"/>
              <a:gd name="connsiteX47" fmla="*/ 267854 w 417803"/>
              <a:gd name="connsiteY47" fmla="*/ 323272 h 443639"/>
              <a:gd name="connsiteX48" fmla="*/ 295563 w 417803"/>
              <a:gd name="connsiteY48" fmla="*/ 314036 h 443639"/>
              <a:gd name="connsiteX49" fmla="*/ 378691 w 417803"/>
              <a:gd name="connsiteY49" fmla="*/ 277091 h 443639"/>
              <a:gd name="connsiteX50" fmla="*/ 350982 w 417803"/>
              <a:gd name="connsiteY50" fmla="*/ 304800 h 443639"/>
              <a:gd name="connsiteX51" fmla="*/ 323272 w 417803"/>
              <a:gd name="connsiteY51" fmla="*/ 314036 h 443639"/>
              <a:gd name="connsiteX52" fmla="*/ 304800 w 417803"/>
              <a:gd name="connsiteY52" fmla="*/ 323272 h 443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17803" h="443639">
                <a:moveTo>
                  <a:pt x="0" y="120072"/>
                </a:moveTo>
                <a:cubicBezTo>
                  <a:pt x="92308" y="101611"/>
                  <a:pt x="7360" y="127481"/>
                  <a:pt x="73891" y="83127"/>
                </a:cubicBezTo>
                <a:cubicBezTo>
                  <a:pt x="86061" y="75014"/>
                  <a:pt x="141124" y="65986"/>
                  <a:pt x="147782" y="64654"/>
                </a:cubicBezTo>
                <a:cubicBezTo>
                  <a:pt x="160097" y="58496"/>
                  <a:pt x="172772" y="53012"/>
                  <a:pt x="184727" y="46181"/>
                </a:cubicBezTo>
                <a:cubicBezTo>
                  <a:pt x="194365" y="40674"/>
                  <a:pt x="202507" y="32673"/>
                  <a:pt x="212436" y="27709"/>
                </a:cubicBezTo>
                <a:cubicBezTo>
                  <a:pt x="221144" y="23355"/>
                  <a:pt x="240145" y="8736"/>
                  <a:pt x="240145" y="18472"/>
                </a:cubicBezTo>
                <a:cubicBezTo>
                  <a:pt x="240145" y="29573"/>
                  <a:pt x="220864" y="29721"/>
                  <a:pt x="212436" y="36945"/>
                </a:cubicBezTo>
                <a:cubicBezTo>
                  <a:pt x="199213" y="48280"/>
                  <a:pt x="188935" y="62819"/>
                  <a:pt x="175491" y="73891"/>
                </a:cubicBezTo>
                <a:cubicBezTo>
                  <a:pt x="136512" y="105992"/>
                  <a:pt x="19712" y="201960"/>
                  <a:pt x="55418" y="166254"/>
                </a:cubicBezTo>
                <a:cubicBezTo>
                  <a:pt x="99247" y="122425"/>
                  <a:pt x="75841" y="134817"/>
                  <a:pt x="120072" y="120072"/>
                </a:cubicBezTo>
                <a:cubicBezTo>
                  <a:pt x="141624" y="104678"/>
                  <a:pt x="162017" y="87517"/>
                  <a:pt x="184727" y="73891"/>
                </a:cubicBezTo>
                <a:cubicBezTo>
                  <a:pt x="193076" y="68882"/>
                  <a:pt x="203396" y="68270"/>
                  <a:pt x="212436" y="64654"/>
                </a:cubicBezTo>
                <a:cubicBezTo>
                  <a:pt x="234206" y="55946"/>
                  <a:pt x="256119" y="47431"/>
                  <a:pt x="277091" y="36945"/>
                </a:cubicBezTo>
                <a:cubicBezTo>
                  <a:pt x="364337" y="-6678"/>
                  <a:pt x="288498" y="20827"/>
                  <a:pt x="350982" y="0"/>
                </a:cubicBezTo>
                <a:cubicBezTo>
                  <a:pt x="347903" y="9236"/>
                  <a:pt x="347146" y="19608"/>
                  <a:pt x="341745" y="27709"/>
                </a:cubicBezTo>
                <a:cubicBezTo>
                  <a:pt x="330913" y="43957"/>
                  <a:pt x="261701" y="99455"/>
                  <a:pt x="258618" y="101600"/>
                </a:cubicBezTo>
                <a:cubicBezTo>
                  <a:pt x="207442" y="137201"/>
                  <a:pt x="153869" y="169225"/>
                  <a:pt x="101600" y="203200"/>
                </a:cubicBezTo>
                <a:cubicBezTo>
                  <a:pt x="92293" y="209250"/>
                  <a:pt x="83127" y="215515"/>
                  <a:pt x="73891" y="221672"/>
                </a:cubicBezTo>
                <a:cubicBezTo>
                  <a:pt x="51265" y="236756"/>
                  <a:pt x="39060" y="249381"/>
                  <a:pt x="9236" y="249381"/>
                </a:cubicBezTo>
                <a:cubicBezTo>
                  <a:pt x="-500" y="249381"/>
                  <a:pt x="27829" y="243563"/>
                  <a:pt x="36945" y="240145"/>
                </a:cubicBezTo>
                <a:cubicBezTo>
                  <a:pt x="52469" y="234323"/>
                  <a:pt x="68125" y="228732"/>
                  <a:pt x="83127" y="221672"/>
                </a:cubicBezTo>
                <a:cubicBezTo>
                  <a:pt x="221607" y="156505"/>
                  <a:pt x="148884" y="177523"/>
                  <a:pt x="230909" y="157018"/>
                </a:cubicBezTo>
                <a:cubicBezTo>
                  <a:pt x="264776" y="138545"/>
                  <a:pt x="300121" y="122557"/>
                  <a:pt x="332509" y="101600"/>
                </a:cubicBezTo>
                <a:cubicBezTo>
                  <a:pt x="352697" y="88537"/>
                  <a:pt x="364806" y="62024"/>
                  <a:pt x="387927" y="55418"/>
                </a:cubicBezTo>
                <a:cubicBezTo>
                  <a:pt x="397288" y="52743"/>
                  <a:pt x="394084" y="73891"/>
                  <a:pt x="397163" y="83127"/>
                </a:cubicBezTo>
                <a:cubicBezTo>
                  <a:pt x="351537" y="98335"/>
                  <a:pt x="383751" y="83008"/>
                  <a:pt x="341745" y="120072"/>
                </a:cubicBezTo>
                <a:cubicBezTo>
                  <a:pt x="299177" y="157632"/>
                  <a:pt x="259672" y="199419"/>
                  <a:pt x="212436" y="230909"/>
                </a:cubicBezTo>
                <a:cubicBezTo>
                  <a:pt x="203200" y="237066"/>
                  <a:pt x="173626" y="249381"/>
                  <a:pt x="184727" y="249381"/>
                </a:cubicBezTo>
                <a:cubicBezTo>
                  <a:pt x="200919" y="249381"/>
                  <a:pt x="234953" y="219650"/>
                  <a:pt x="249382" y="212436"/>
                </a:cubicBezTo>
                <a:cubicBezTo>
                  <a:pt x="264211" y="205021"/>
                  <a:pt x="280734" y="201378"/>
                  <a:pt x="295563" y="193963"/>
                </a:cubicBezTo>
                <a:cubicBezTo>
                  <a:pt x="337621" y="172934"/>
                  <a:pt x="350818" y="158996"/>
                  <a:pt x="387927" y="129309"/>
                </a:cubicBezTo>
                <a:cubicBezTo>
                  <a:pt x="381769" y="141624"/>
                  <a:pt x="379688" y="157043"/>
                  <a:pt x="369454" y="166254"/>
                </a:cubicBezTo>
                <a:cubicBezTo>
                  <a:pt x="331873" y="200077"/>
                  <a:pt x="243918" y="235714"/>
                  <a:pt x="203200" y="258618"/>
                </a:cubicBezTo>
                <a:cubicBezTo>
                  <a:pt x="183850" y="269502"/>
                  <a:pt x="166255" y="283248"/>
                  <a:pt x="147782" y="295563"/>
                </a:cubicBezTo>
                <a:cubicBezTo>
                  <a:pt x="138545" y="301721"/>
                  <a:pt x="109541" y="317546"/>
                  <a:pt x="120072" y="314036"/>
                </a:cubicBezTo>
                <a:cubicBezTo>
                  <a:pt x="129309" y="310957"/>
                  <a:pt x="138613" y="308075"/>
                  <a:pt x="147782" y="304800"/>
                </a:cubicBezTo>
                <a:lnTo>
                  <a:pt x="249382" y="267854"/>
                </a:lnTo>
                <a:cubicBezTo>
                  <a:pt x="255539" y="258618"/>
                  <a:pt x="258335" y="245856"/>
                  <a:pt x="267854" y="240145"/>
                </a:cubicBezTo>
                <a:cubicBezTo>
                  <a:pt x="306937" y="216695"/>
                  <a:pt x="338759" y="214609"/>
                  <a:pt x="378691" y="203200"/>
                </a:cubicBezTo>
                <a:cubicBezTo>
                  <a:pt x="388052" y="200525"/>
                  <a:pt x="397164" y="197042"/>
                  <a:pt x="406400" y="193963"/>
                </a:cubicBezTo>
                <a:cubicBezTo>
                  <a:pt x="403321" y="206278"/>
                  <a:pt x="404541" y="220579"/>
                  <a:pt x="397163" y="230909"/>
                </a:cubicBezTo>
                <a:cubicBezTo>
                  <a:pt x="388216" y="243435"/>
                  <a:pt x="373353" y="250591"/>
                  <a:pt x="360218" y="258618"/>
                </a:cubicBezTo>
                <a:cubicBezTo>
                  <a:pt x="317858" y="284505"/>
                  <a:pt x="272589" y="305540"/>
                  <a:pt x="230909" y="332509"/>
                </a:cubicBezTo>
                <a:cubicBezTo>
                  <a:pt x="219942" y="339605"/>
                  <a:pt x="214188" y="353155"/>
                  <a:pt x="203200" y="360218"/>
                </a:cubicBezTo>
                <a:cubicBezTo>
                  <a:pt x="186179" y="371160"/>
                  <a:pt x="73139" y="434297"/>
                  <a:pt x="36945" y="443345"/>
                </a:cubicBezTo>
                <a:cubicBezTo>
                  <a:pt x="26176" y="446037"/>
                  <a:pt x="54575" y="429524"/>
                  <a:pt x="64654" y="424872"/>
                </a:cubicBezTo>
                <a:cubicBezTo>
                  <a:pt x="94762" y="410976"/>
                  <a:pt x="127359" y="402756"/>
                  <a:pt x="157018" y="387927"/>
                </a:cubicBezTo>
                <a:cubicBezTo>
                  <a:pt x="195274" y="368799"/>
                  <a:pt x="230114" y="343400"/>
                  <a:pt x="267854" y="323272"/>
                </a:cubicBezTo>
                <a:cubicBezTo>
                  <a:pt x="276445" y="318690"/>
                  <a:pt x="286523" y="317652"/>
                  <a:pt x="295563" y="314036"/>
                </a:cubicBezTo>
                <a:cubicBezTo>
                  <a:pt x="445359" y="254118"/>
                  <a:pt x="437080" y="257627"/>
                  <a:pt x="378691" y="277091"/>
                </a:cubicBezTo>
                <a:cubicBezTo>
                  <a:pt x="369455" y="286327"/>
                  <a:pt x="361850" y="297555"/>
                  <a:pt x="350982" y="304800"/>
                </a:cubicBezTo>
                <a:cubicBezTo>
                  <a:pt x="342881" y="310201"/>
                  <a:pt x="332312" y="310420"/>
                  <a:pt x="323272" y="314036"/>
                </a:cubicBezTo>
                <a:cubicBezTo>
                  <a:pt x="316880" y="316593"/>
                  <a:pt x="310957" y="320193"/>
                  <a:pt x="304800" y="323272"/>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Forma libre 12"/>
          <p:cNvSpPr/>
          <p:nvPr/>
        </p:nvSpPr>
        <p:spPr>
          <a:xfrm>
            <a:off x="6976814" y="2633337"/>
            <a:ext cx="381208" cy="341745"/>
          </a:xfrm>
          <a:custGeom>
            <a:avLst/>
            <a:gdLst>
              <a:gd name="connsiteX0" fmla="*/ 0 w 381208"/>
              <a:gd name="connsiteY0" fmla="*/ 203200 h 341745"/>
              <a:gd name="connsiteX1" fmla="*/ 46182 w 381208"/>
              <a:gd name="connsiteY1" fmla="*/ 157018 h 341745"/>
              <a:gd name="connsiteX2" fmla="*/ 73891 w 381208"/>
              <a:gd name="connsiteY2" fmla="*/ 147781 h 341745"/>
              <a:gd name="connsiteX3" fmla="*/ 147782 w 381208"/>
              <a:gd name="connsiteY3" fmla="*/ 101600 h 341745"/>
              <a:gd name="connsiteX4" fmla="*/ 203200 w 381208"/>
              <a:gd name="connsiteY4" fmla="*/ 55418 h 341745"/>
              <a:gd name="connsiteX5" fmla="*/ 230909 w 381208"/>
              <a:gd name="connsiteY5" fmla="*/ 46181 h 341745"/>
              <a:gd name="connsiteX6" fmla="*/ 277091 w 381208"/>
              <a:gd name="connsiteY6" fmla="*/ 18472 h 341745"/>
              <a:gd name="connsiteX7" fmla="*/ 314036 w 381208"/>
              <a:gd name="connsiteY7" fmla="*/ 0 h 341745"/>
              <a:gd name="connsiteX8" fmla="*/ 314036 w 381208"/>
              <a:gd name="connsiteY8" fmla="*/ 55418 h 341745"/>
              <a:gd name="connsiteX9" fmla="*/ 286327 w 381208"/>
              <a:gd name="connsiteY9" fmla="*/ 73891 h 341745"/>
              <a:gd name="connsiteX10" fmla="*/ 230909 w 381208"/>
              <a:gd name="connsiteY10" fmla="*/ 138545 h 341745"/>
              <a:gd name="connsiteX11" fmla="*/ 138545 w 381208"/>
              <a:gd name="connsiteY11" fmla="*/ 240145 h 341745"/>
              <a:gd name="connsiteX12" fmla="*/ 175491 w 381208"/>
              <a:gd name="connsiteY12" fmla="*/ 212436 h 341745"/>
              <a:gd name="connsiteX13" fmla="*/ 203200 w 381208"/>
              <a:gd name="connsiteY13" fmla="*/ 193963 h 341745"/>
              <a:gd name="connsiteX14" fmla="*/ 304800 w 381208"/>
              <a:gd name="connsiteY14" fmla="*/ 129309 h 341745"/>
              <a:gd name="connsiteX15" fmla="*/ 350982 w 381208"/>
              <a:gd name="connsiteY15" fmla="*/ 92363 h 341745"/>
              <a:gd name="connsiteX16" fmla="*/ 378691 w 381208"/>
              <a:gd name="connsiteY16" fmla="*/ 83127 h 341745"/>
              <a:gd name="connsiteX17" fmla="*/ 369454 w 381208"/>
              <a:gd name="connsiteY17" fmla="*/ 120072 h 341745"/>
              <a:gd name="connsiteX18" fmla="*/ 341745 w 381208"/>
              <a:gd name="connsiteY18" fmla="*/ 138545 h 341745"/>
              <a:gd name="connsiteX19" fmla="*/ 304800 w 381208"/>
              <a:gd name="connsiteY19" fmla="*/ 184727 h 341745"/>
              <a:gd name="connsiteX20" fmla="*/ 203200 w 381208"/>
              <a:gd name="connsiteY20" fmla="*/ 267854 h 341745"/>
              <a:gd name="connsiteX21" fmla="*/ 323273 w 381208"/>
              <a:gd name="connsiteY21" fmla="*/ 221672 h 341745"/>
              <a:gd name="connsiteX22" fmla="*/ 369454 w 381208"/>
              <a:gd name="connsiteY22" fmla="*/ 184727 h 341745"/>
              <a:gd name="connsiteX23" fmla="*/ 341745 w 381208"/>
              <a:gd name="connsiteY23" fmla="*/ 193963 h 341745"/>
              <a:gd name="connsiteX24" fmla="*/ 230909 w 381208"/>
              <a:gd name="connsiteY24" fmla="*/ 249381 h 341745"/>
              <a:gd name="connsiteX25" fmla="*/ 175491 w 381208"/>
              <a:gd name="connsiteY25" fmla="*/ 277091 h 341745"/>
              <a:gd name="connsiteX26" fmla="*/ 166254 w 381208"/>
              <a:gd name="connsiteY26" fmla="*/ 249381 h 341745"/>
              <a:gd name="connsiteX27" fmla="*/ 249382 w 381208"/>
              <a:gd name="connsiteY27" fmla="*/ 166254 h 341745"/>
              <a:gd name="connsiteX28" fmla="*/ 277091 w 381208"/>
              <a:gd name="connsiteY28" fmla="*/ 110836 h 341745"/>
              <a:gd name="connsiteX29" fmla="*/ 193963 w 381208"/>
              <a:gd name="connsiteY29" fmla="*/ 147781 h 341745"/>
              <a:gd name="connsiteX30" fmla="*/ 83127 w 381208"/>
              <a:gd name="connsiteY30" fmla="*/ 193963 h 341745"/>
              <a:gd name="connsiteX31" fmla="*/ 110836 w 381208"/>
              <a:gd name="connsiteY31" fmla="*/ 175491 h 341745"/>
              <a:gd name="connsiteX32" fmla="*/ 157018 w 381208"/>
              <a:gd name="connsiteY32" fmla="*/ 138545 h 341745"/>
              <a:gd name="connsiteX33" fmla="*/ 193963 w 381208"/>
              <a:gd name="connsiteY33" fmla="*/ 120072 h 341745"/>
              <a:gd name="connsiteX34" fmla="*/ 221673 w 381208"/>
              <a:gd name="connsiteY34" fmla="*/ 101600 h 341745"/>
              <a:gd name="connsiteX35" fmla="*/ 157018 w 381208"/>
              <a:gd name="connsiteY35" fmla="*/ 166254 h 341745"/>
              <a:gd name="connsiteX36" fmla="*/ 184727 w 381208"/>
              <a:gd name="connsiteY36" fmla="*/ 175491 h 341745"/>
              <a:gd name="connsiteX37" fmla="*/ 277091 w 381208"/>
              <a:gd name="connsiteY37" fmla="*/ 138545 h 341745"/>
              <a:gd name="connsiteX38" fmla="*/ 267854 w 381208"/>
              <a:gd name="connsiteY38" fmla="*/ 166254 h 341745"/>
              <a:gd name="connsiteX39" fmla="*/ 240145 w 381208"/>
              <a:gd name="connsiteY39" fmla="*/ 184727 h 341745"/>
              <a:gd name="connsiteX40" fmla="*/ 212436 w 381208"/>
              <a:gd name="connsiteY40" fmla="*/ 212436 h 341745"/>
              <a:gd name="connsiteX41" fmla="*/ 175491 w 381208"/>
              <a:gd name="connsiteY41" fmla="*/ 240145 h 341745"/>
              <a:gd name="connsiteX42" fmla="*/ 230909 w 381208"/>
              <a:gd name="connsiteY42" fmla="*/ 221672 h 341745"/>
              <a:gd name="connsiteX43" fmla="*/ 258618 w 381208"/>
              <a:gd name="connsiteY43" fmla="*/ 212436 h 341745"/>
              <a:gd name="connsiteX44" fmla="*/ 286327 w 381208"/>
              <a:gd name="connsiteY44" fmla="*/ 203200 h 341745"/>
              <a:gd name="connsiteX45" fmla="*/ 295563 w 381208"/>
              <a:gd name="connsiteY45" fmla="*/ 230909 h 341745"/>
              <a:gd name="connsiteX46" fmla="*/ 314036 w 381208"/>
              <a:gd name="connsiteY46" fmla="*/ 249381 h 341745"/>
              <a:gd name="connsiteX47" fmla="*/ 341745 w 381208"/>
              <a:gd name="connsiteY47" fmla="*/ 258618 h 341745"/>
              <a:gd name="connsiteX48" fmla="*/ 314036 w 381208"/>
              <a:gd name="connsiteY48" fmla="*/ 267854 h 341745"/>
              <a:gd name="connsiteX49" fmla="*/ 295563 w 381208"/>
              <a:gd name="connsiteY49" fmla="*/ 295563 h 341745"/>
              <a:gd name="connsiteX50" fmla="*/ 267854 w 381208"/>
              <a:gd name="connsiteY50" fmla="*/ 323272 h 341745"/>
              <a:gd name="connsiteX51" fmla="*/ 249382 w 381208"/>
              <a:gd name="connsiteY51" fmla="*/ 341745 h 34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81208" h="341745">
                <a:moveTo>
                  <a:pt x="0" y="203200"/>
                </a:moveTo>
                <a:cubicBezTo>
                  <a:pt x="15394" y="187806"/>
                  <a:pt x="28766" y="170080"/>
                  <a:pt x="46182" y="157018"/>
                </a:cubicBezTo>
                <a:cubicBezTo>
                  <a:pt x="53971" y="151176"/>
                  <a:pt x="65635" y="152941"/>
                  <a:pt x="73891" y="147781"/>
                </a:cubicBezTo>
                <a:cubicBezTo>
                  <a:pt x="159942" y="93999"/>
                  <a:pt x="85436" y="122381"/>
                  <a:pt x="147782" y="101600"/>
                </a:cubicBezTo>
                <a:cubicBezTo>
                  <a:pt x="166255" y="86206"/>
                  <a:pt x="183193" y="68757"/>
                  <a:pt x="203200" y="55418"/>
                </a:cubicBezTo>
                <a:cubicBezTo>
                  <a:pt x="211301" y="50017"/>
                  <a:pt x="222201" y="50535"/>
                  <a:pt x="230909" y="46181"/>
                </a:cubicBezTo>
                <a:cubicBezTo>
                  <a:pt x="246966" y="38152"/>
                  <a:pt x="261398" y="27190"/>
                  <a:pt x="277091" y="18472"/>
                </a:cubicBezTo>
                <a:cubicBezTo>
                  <a:pt x="289127" y="11785"/>
                  <a:pt x="301721" y="6157"/>
                  <a:pt x="314036" y="0"/>
                </a:cubicBezTo>
                <a:cubicBezTo>
                  <a:pt x="321281" y="21733"/>
                  <a:pt x="331423" y="33685"/>
                  <a:pt x="314036" y="55418"/>
                </a:cubicBezTo>
                <a:cubicBezTo>
                  <a:pt x="307101" y="64086"/>
                  <a:pt x="294176" y="66042"/>
                  <a:pt x="286327" y="73891"/>
                </a:cubicBezTo>
                <a:cubicBezTo>
                  <a:pt x="266256" y="93962"/>
                  <a:pt x="251488" y="118995"/>
                  <a:pt x="230909" y="138545"/>
                </a:cubicBezTo>
                <a:cubicBezTo>
                  <a:pt x="110393" y="253034"/>
                  <a:pt x="42404" y="264180"/>
                  <a:pt x="138545" y="240145"/>
                </a:cubicBezTo>
                <a:cubicBezTo>
                  <a:pt x="150860" y="230909"/>
                  <a:pt x="162964" y="221384"/>
                  <a:pt x="175491" y="212436"/>
                </a:cubicBezTo>
                <a:cubicBezTo>
                  <a:pt x="184524" y="205984"/>
                  <a:pt x="194222" y="200492"/>
                  <a:pt x="203200" y="193963"/>
                </a:cubicBezTo>
                <a:cubicBezTo>
                  <a:pt x="289591" y="131133"/>
                  <a:pt x="246393" y="148777"/>
                  <a:pt x="304800" y="129309"/>
                </a:cubicBezTo>
                <a:cubicBezTo>
                  <a:pt x="320194" y="116994"/>
                  <a:pt x="334265" y="102811"/>
                  <a:pt x="350982" y="92363"/>
                </a:cubicBezTo>
                <a:cubicBezTo>
                  <a:pt x="359238" y="87203"/>
                  <a:pt x="373291" y="75026"/>
                  <a:pt x="378691" y="83127"/>
                </a:cubicBezTo>
                <a:cubicBezTo>
                  <a:pt x="385732" y="93689"/>
                  <a:pt x="376495" y="109510"/>
                  <a:pt x="369454" y="120072"/>
                </a:cubicBezTo>
                <a:cubicBezTo>
                  <a:pt x="363296" y="129308"/>
                  <a:pt x="349594" y="130696"/>
                  <a:pt x="341745" y="138545"/>
                </a:cubicBezTo>
                <a:cubicBezTo>
                  <a:pt x="327805" y="152485"/>
                  <a:pt x="319212" y="171276"/>
                  <a:pt x="304800" y="184727"/>
                </a:cubicBezTo>
                <a:cubicBezTo>
                  <a:pt x="272811" y="214584"/>
                  <a:pt x="161688" y="281691"/>
                  <a:pt x="203200" y="267854"/>
                </a:cubicBezTo>
                <a:cubicBezTo>
                  <a:pt x="242520" y="254748"/>
                  <a:pt x="289466" y="239703"/>
                  <a:pt x="323273" y="221672"/>
                </a:cubicBezTo>
                <a:cubicBezTo>
                  <a:pt x="340667" y="212395"/>
                  <a:pt x="358519" y="201130"/>
                  <a:pt x="369454" y="184727"/>
                </a:cubicBezTo>
                <a:cubicBezTo>
                  <a:pt x="374854" y="176626"/>
                  <a:pt x="350568" y="189846"/>
                  <a:pt x="341745" y="193963"/>
                </a:cubicBezTo>
                <a:cubicBezTo>
                  <a:pt x="304314" y="211431"/>
                  <a:pt x="267854" y="230908"/>
                  <a:pt x="230909" y="249381"/>
                </a:cubicBezTo>
                <a:lnTo>
                  <a:pt x="175491" y="277091"/>
                </a:lnTo>
                <a:cubicBezTo>
                  <a:pt x="172412" y="267854"/>
                  <a:pt x="166254" y="259117"/>
                  <a:pt x="166254" y="249381"/>
                </a:cubicBezTo>
                <a:cubicBezTo>
                  <a:pt x="166254" y="205895"/>
                  <a:pt x="227702" y="185044"/>
                  <a:pt x="249382" y="166254"/>
                </a:cubicBezTo>
                <a:cubicBezTo>
                  <a:pt x="338932" y="88644"/>
                  <a:pt x="336974" y="95866"/>
                  <a:pt x="277091" y="110836"/>
                </a:cubicBezTo>
                <a:cubicBezTo>
                  <a:pt x="225659" y="145124"/>
                  <a:pt x="273106" y="117004"/>
                  <a:pt x="193963" y="147781"/>
                </a:cubicBezTo>
                <a:cubicBezTo>
                  <a:pt x="156660" y="162287"/>
                  <a:pt x="49825" y="216164"/>
                  <a:pt x="83127" y="193963"/>
                </a:cubicBezTo>
                <a:cubicBezTo>
                  <a:pt x="92363" y="187806"/>
                  <a:pt x="101956" y="182151"/>
                  <a:pt x="110836" y="175491"/>
                </a:cubicBezTo>
                <a:cubicBezTo>
                  <a:pt x="126607" y="163663"/>
                  <a:pt x="140615" y="149481"/>
                  <a:pt x="157018" y="138545"/>
                </a:cubicBezTo>
                <a:cubicBezTo>
                  <a:pt x="168474" y="130907"/>
                  <a:pt x="182008" y="126903"/>
                  <a:pt x="193963" y="120072"/>
                </a:cubicBezTo>
                <a:cubicBezTo>
                  <a:pt x="203601" y="114565"/>
                  <a:pt x="228608" y="92932"/>
                  <a:pt x="221673" y="101600"/>
                </a:cubicBezTo>
                <a:cubicBezTo>
                  <a:pt x="202633" y="125400"/>
                  <a:pt x="157018" y="166254"/>
                  <a:pt x="157018" y="166254"/>
                </a:cubicBezTo>
                <a:cubicBezTo>
                  <a:pt x="166254" y="169333"/>
                  <a:pt x="174991" y="175491"/>
                  <a:pt x="184727" y="175491"/>
                </a:cubicBezTo>
                <a:cubicBezTo>
                  <a:pt x="213217" y="175491"/>
                  <a:pt x="256675" y="148753"/>
                  <a:pt x="277091" y="138545"/>
                </a:cubicBezTo>
                <a:cubicBezTo>
                  <a:pt x="274012" y="147781"/>
                  <a:pt x="273936" y="158651"/>
                  <a:pt x="267854" y="166254"/>
                </a:cubicBezTo>
                <a:cubicBezTo>
                  <a:pt x="260919" y="174922"/>
                  <a:pt x="248673" y="177620"/>
                  <a:pt x="240145" y="184727"/>
                </a:cubicBezTo>
                <a:cubicBezTo>
                  <a:pt x="230110" y="193089"/>
                  <a:pt x="222354" y="203935"/>
                  <a:pt x="212436" y="212436"/>
                </a:cubicBezTo>
                <a:cubicBezTo>
                  <a:pt x="200748" y="222454"/>
                  <a:pt x="161722" y="233261"/>
                  <a:pt x="175491" y="240145"/>
                </a:cubicBezTo>
                <a:cubicBezTo>
                  <a:pt x="192907" y="248853"/>
                  <a:pt x="212436" y="227830"/>
                  <a:pt x="230909" y="221672"/>
                </a:cubicBezTo>
                <a:lnTo>
                  <a:pt x="258618" y="212436"/>
                </a:lnTo>
                <a:lnTo>
                  <a:pt x="286327" y="203200"/>
                </a:lnTo>
                <a:cubicBezTo>
                  <a:pt x="289406" y="212436"/>
                  <a:pt x="297164" y="221306"/>
                  <a:pt x="295563" y="230909"/>
                </a:cubicBezTo>
                <a:cubicBezTo>
                  <a:pt x="290017" y="264188"/>
                  <a:pt x="243489" y="267019"/>
                  <a:pt x="314036" y="249381"/>
                </a:cubicBezTo>
                <a:cubicBezTo>
                  <a:pt x="323272" y="252460"/>
                  <a:pt x="341745" y="248882"/>
                  <a:pt x="341745" y="258618"/>
                </a:cubicBezTo>
                <a:cubicBezTo>
                  <a:pt x="341745" y="268354"/>
                  <a:pt x="321639" y="261772"/>
                  <a:pt x="314036" y="267854"/>
                </a:cubicBezTo>
                <a:cubicBezTo>
                  <a:pt x="305368" y="274789"/>
                  <a:pt x="302670" y="287035"/>
                  <a:pt x="295563" y="295563"/>
                </a:cubicBezTo>
                <a:cubicBezTo>
                  <a:pt x="287201" y="305598"/>
                  <a:pt x="277090" y="314036"/>
                  <a:pt x="267854" y="323272"/>
                </a:cubicBezTo>
                <a:lnTo>
                  <a:pt x="249382" y="341745"/>
                </a:lnTo>
              </a:path>
            </a:pathLst>
          </a:cu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p:cNvSpPr/>
          <p:nvPr/>
        </p:nvSpPr>
        <p:spPr>
          <a:xfrm>
            <a:off x="838199" y="2216727"/>
            <a:ext cx="2880402" cy="1570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p:cNvSpPr/>
          <p:nvPr/>
        </p:nvSpPr>
        <p:spPr>
          <a:xfrm>
            <a:off x="3718601" y="3186545"/>
            <a:ext cx="1601544" cy="1662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Elipse 15"/>
          <p:cNvSpPr/>
          <p:nvPr/>
        </p:nvSpPr>
        <p:spPr>
          <a:xfrm>
            <a:off x="4876800" y="1764145"/>
            <a:ext cx="443345" cy="184728"/>
          </a:xfrm>
          <a:prstGeom prst="ellipse">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Elipse 16"/>
          <p:cNvSpPr/>
          <p:nvPr/>
        </p:nvSpPr>
        <p:spPr>
          <a:xfrm>
            <a:off x="2918691" y="3186545"/>
            <a:ext cx="378692" cy="165797"/>
          </a:xfrm>
          <a:prstGeom prst="ellipse">
            <a:avLst/>
          </a:prstGeom>
          <a:no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189616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332509" y="277091"/>
            <a:ext cx="6771524" cy="493221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CuadroTexto 4"/>
          <p:cNvSpPr txBox="1"/>
          <p:nvPr/>
        </p:nvSpPr>
        <p:spPr>
          <a:xfrm>
            <a:off x="7342909" y="387927"/>
            <a:ext cx="4378036" cy="6001643"/>
          </a:xfrm>
          <a:prstGeom prst="rect">
            <a:avLst/>
          </a:prstGeom>
          <a:noFill/>
        </p:spPr>
        <p:txBody>
          <a:bodyPr wrap="square" rtlCol="0">
            <a:spAutoFit/>
          </a:bodyPr>
          <a:lstStyle/>
          <a:p>
            <a:pPr algn="just"/>
            <a:r>
              <a:rPr lang="es-ES" b="1" u="sng" dirty="0" smtClean="0"/>
              <a:t>Recomendación final para inversores:</a:t>
            </a:r>
          </a:p>
          <a:p>
            <a:pPr marL="285750" indent="-285750" algn="just">
              <a:buFontTx/>
              <a:buChar char="-"/>
            </a:pPr>
            <a:r>
              <a:rPr lang="es-ES" b="1" dirty="0" smtClean="0"/>
              <a:t>Inversión conservadora/estable</a:t>
            </a:r>
            <a:r>
              <a:rPr lang="es-ES" b="1" dirty="0"/>
              <a:t> </a:t>
            </a:r>
            <a:r>
              <a:rPr lang="es-ES" dirty="0" smtClean="0">
                <a:sym typeface="Wingdings" panose="05000000000000000000" pitchFamily="2" charset="2"/>
              </a:rPr>
              <a:t></a:t>
            </a:r>
            <a:r>
              <a:rPr lang="es-ES" dirty="0" smtClean="0"/>
              <a:t> </a:t>
            </a:r>
            <a:r>
              <a:rPr lang="es-ES" i="1" dirty="0" smtClean="0"/>
              <a:t>Centro</a:t>
            </a:r>
            <a:r>
              <a:rPr lang="es-ES" dirty="0" smtClean="0"/>
              <a:t>. Su oferta rompe la estacionalidad climática y garantiza un flujo de caja constante y homogéneo durante las 4 estaciones.</a:t>
            </a:r>
          </a:p>
          <a:p>
            <a:pPr marL="285750" indent="-285750" algn="just">
              <a:buFontTx/>
              <a:buChar char="-"/>
            </a:pPr>
            <a:r>
              <a:rPr lang="es-ES" b="1" dirty="0" smtClean="0"/>
              <a:t>Inversión de Alta Oportunidad Estival </a:t>
            </a:r>
            <a:r>
              <a:rPr lang="es-ES" dirty="0" smtClean="0">
                <a:sym typeface="Wingdings" panose="05000000000000000000" pitchFamily="2" charset="2"/>
              </a:rPr>
              <a:t> </a:t>
            </a:r>
            <a:r>
              <a:rPr lang="es-ES" i="1" dirty="0" smtClean="0">
                <a:sym typeface="Wingdings" panose="05000000000000000000" pitchFamily="2" charset="2"/>
              </a:rPr>
              <a:t>Teatinos. </a:t>
            </a:r>
            <a:r>
              <a:rPr lang="es-ES" dirty="0" smtClean="0">
                <a:sym typeface="Wingdings" panose="05000000000000000000" pitchFamily="2" charset="2"/>
              </a:rPr>
              <a:t>Explotar propiedades en esta zona enfocadas a estudiantes en formato de temporada escolar (9 meses) y pivotar agresivamente hacia el alquiler turístico vacacional en los meses de verano, aprovechando la explosión masiva del </a:t>
            </a:r>
            <a:r>
              <a:rPr lang="es-ES" b="1" dirty="0" smtClean="0">
                <a:sym typeface="Wingdings" panose="05000000000000000000" pitchFamily="2" charset="2"/>
              </a:rPr>
              <a:t>+124% </a:t>
            </a:r>
            <a:r>
              <a:rPr lang="es-ES" dirty="0" smtClean="0">
                <a:sym typeface="Wingdings" panose="05000000000000000000" pitchFamily="2" charset="2"/>
              </a:rPr>
              <a:t>en temporada veraniega.</a:t>
            </a:r>
          </a:p>
          <a:p>
            <a:pPr marL="285750" indent="-285750" algn="just">
              <a:buFontTx/>
              <a:buChar char="-"/>
            </a:pPr>
            <a:endParaRPr lang="es-ES" i="1" dirty="0" smtClean="0">
              <a:sym typeface="Wingdings" panose="05000000000000000000" pitchFamily="2" charset="2"/>
            </a:endParaRPr>
          </a:p>
          <a:p>
            <a:pPr marL="285750" indent="-285750" algn="just">
              <a:buFontTx/>
              <a:buChar char="-"/>
            </a:pPr>
            <a:endParaRPr lang="es-ES" i="1" dirty="0">
              <a:sym typeface="Wingdings" panose="05000000000000000000" pitchFamily="2" charset="2"/>
            </a:endParaRPr>
          </a:p>
          <a:p>
            <a:pPr marL="285750" indent="-285750" algn="just">
              <a:buFontTx/>
              <a:buChar char="-"/>
            </a:pPr>
            <a:endParaRPr lang="es-ES" i="1" dirty="0" smtClean="0">
              <a:sym typeface="Wingdings" panose="05000000000000000000" pitchFamily="2" charset="2"/>
            </a:endParaRPr>
          </a:p>
          <a:p>
            <a:pPr marL="285750" indent="-285750" algn="just">
              <a:buFontTx/>
              <a:buChar char="-"/>
            </a:pPr>
            <a:endParaRPr lang="es-ES" i="1" dirty="0">
              <a:sym typeface="Wingdings" panose="05000000000000000000" pitchFamily="2" charset="2"/>
            </a:endParaRPr>
          </a:p>
          <a:p>
            <a:pPr marL="285750" indent="-285750" algn="just">
              <a:buFontTx/>
              <a:buChar char="-"/>
            </a:pPr>
            <a:endParaRPr lang="es-ES" i="1" dirty="0" smtClean="0">
              <a:sym typeface="Wingdings" panose="05000000000000000000" pitchFamily="2" charset="2"/>
            </a:endParaRPr>
          </a:p>
          <a:p>
            <a:pPr marL="285750" indent="-285750" algn="just">
              <a:buFontTx/>
              <a:buChar char="-"/>
            </a:pPr>
            <a:endParaRPr lang="es-ES" i="1" dirty="0">
              <a:sym typeface="Wingdings" panose="05000000000000000000" pitchFamily="2" charset="2"/>
            </a:endParaRPr>
          </a:p>
          <a:p>
            <a:pPr algn="ctr"/>
            <a:r>
              <a:rPr lang="es-ES" sz="2400" i="1" dirty="0" smtClean="0">
                <a:sym typeface="Wingdings" panose="05000000000000000000" pitchFamily="2" charset="2"/>
              </a:rPr>
              <a:t>GRACIAS POR SU ATENCIÓN</a:t>
            </a:r>
            <a:endParaRPr lang="es-ES" sz="2400" i="1" dirty="0" smtClean="0"/>
          </a:p>
        </p:txBody>
      </p:sp>
    </p:spTree>
    <p:extLst>
      <p:ext uri="{BB962C8B-B14F-4D97-AF65-F5344CB8AC3E}">
        <p14:creationId xmlns:p14="http://schemas.microsoft.com/office/powerpoint/2010/main" val="1391078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1311</Words>
  <Application>Microsoft Office PowerPoint</Application>
  <PresentationFormat>Panorámica</PresentationFormat>
  <Paragraphs>102</Paragraphs>
  <Slides>15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Calibri Light</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Primera parte: “¿Sube la demanda más de un 50% en verano?”</vt:lpstr>
      <vt:lpstr>Segunda parte: “¿La demanda del centro permanece estable durante todo el año?”</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Marta Harana Herrera</dc:creator>
  <cp:lastModifiedBy>María Rodríguez Esteras</cp:lastModifiedBy>
  <cp:revision>10</cp:revision>
  <dcterms:created xsi:type="dcterms:W3CDTF">2026-05-18T11:27:02Z</dcterms:created>
  <dcterms:modified xsi:type="dcterms:W3CDTF">2026-05-21T17:49:46Z</dcterms:modified>
</cp:coreProperties>
</file>